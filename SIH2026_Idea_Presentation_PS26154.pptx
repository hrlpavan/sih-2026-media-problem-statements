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B365D"/>
                </a:solidFill>
                <a:latin typeface="Times New Roman"/>
              </a:defRPr>
            </a:pPr>
            <a:r>
              <a:t>SMART INDIA HACKATHON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14181E"/>
                </a:solidFill>
                <a:latin typeface="Times New Roman"/>
              </a:defRPr>
            </a:pPr>
            <a:r>
              <a:t>TITLE PAGE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1323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400">
                <a:solidFill>
                  <a:srgbClr val="1B365D"/>
                </a:solidFill>
                <a:latin typeface="Times New Roman"/>
              </a:rPr>
              <a:t>• Problem Statement ID –</a:t>
            </a:r>
            <a:r>
              <a:rPr sz="1400" b="1">
                <a:solidFill>
                  <a:srgbClr val="F37021"/>
                </a:solidFill>
                <a:latin typeface="Times New Roman"/>
              </a:rPr>
              <a:t> 26154</a:t>
            </a:r>
          </a:p>
          <a:p>
            <a:pPr>
              <a:spcAft>
                <a:spcPts val="1000"/>
              </a:spcAft>
            </a:pPr>
            <a:r>
              <a:rPr b="1" sz="1400">
                <a:solidFill>
                  <a:srgbClr val="1B365D"/>
                </a:solidFill>
                <a:latin typeface="Times New Roman"/>
              </a:rPr>
              <a:t>• Problem Statement Title –</a:t>
            </a:r>
            <a:r>
              <a:rPr sz="1400" b="1">
                <a:solidFill>
                  <a:srgbClr val="14181E"/>
                </a:solidFill>
                <a:latin typeface="Times New Roman"/>
              </a:rPr>
              <a:t> Gen AI Platform for Automated Content Transformation</a:t>
            </a:r>
          </a:p>
          <a:p>
            <a:pPr>
              <a:spcAft>
                <a:spcPts val="1000"/>
              </a:spcAft>
            </a:pPr>
            <a:r>
              <a:rPr b="1" sz="1400">
                <a:solidFill>
                  <a:srgbClr val="1B365D"/>
                </a:solidFill>
                <a:latin typeface="Times New Roman"/>
              </a:rPr>
              <a:t>• Theme –</a:t>
            </a:r>
            <a:r>
              <a:rPr sz="1400" b="0">
                <a:solidFill>
                  <a:srgbClr val="14181E"/>
                </a:solidFill>
                <a:latin typeface="Arial"/>
              </a:rPr>
              <a:t> Blockchain &amp; Cybersecurity / AI</a:t>
            </a:r>
          </a:p>
          <a:p>
            <a:pPr>
              <a:spcAft>
                <a:spcPts val="1000"/>
              </a:spcAft>
            </a:pPr>
            <a:r>
              <a:rPr b="1" sz="1400">
                <a:solidFill>
                  <a:srgbClr val="1B365D"/>
                </a:solidFill>
                <a:latin typeface="Times New Roman"/>
              </a:rPr>
              <a:t>• PS Category –</a:t>
            </a:r>
            <a:r>
              <a:rPr sz="1400" b="0">
                <a:solidFill>
                  <a:srgbClr val="14181E"/>
                </a:solidFill>
                <a:latin typeface="Arial"/>
              </a:rPr>
              <a:t> Software</a:t>
            </a:r>
          </a:p>
          <a:p>
            <a:pPr>
              <a:spcAft>
                <a:spcPts val="1000"/>
              </a:spcAft>
            </a:pPr>
            <a:r>
              <a:rPr b="1" sz="1400">
                <a:solidFill>
                  <a:srgbClr val="1B365D"/>
                </a:solidFill>
                <a:latin typeface="Times New Roman"/>
              </a:rPr>
              <a:t>• Organization –</a:t>
            </a:r>
            <a:r>
              <a:rPr sz="1400" b="0">
                <a:solidFill>
                  <a:srgbClr val="14181E"/>
                </a:solidFill>
                <a:latin typeface="Arial"/>
              </a:rPr>
              <a:t> National Technical Research Organisation (NTRO)</a:t>
            </a:r>
          </a:p>
          <a:p>
            <a:pPr>
              <a:spcAft>
                <a:spcPts val="1000"/>
              </a:spcAft>
            </a:pPr>
            <a:r>
              <a:rPr b="1" sz="1400">
                <a:solidFill>
                  <a:srgbClr val="1B365D"/>
                </a:solidFill>
                <a:latin typeface="Times New Roman"/>
              </a:rPr>
              <a:t>• Team ID –</a:t>
            </a:r>
            <a:r>
              <a:rPr sz="1400" b="0">
                <a:solidFill>
                  <a:srgbClr val="14181E"/>
                </a:solidFill>
                <a:latin typeface="Arial"/>
              </a:rPr>
              <a:t> [Registered Team ID on Portal]</a:t>
            </a:r>
          </a:p>
          <a:p>
            <a:pPr>
              <a:spcAft>
                <a:spcPts val="1000"/>
              </a:spcAft>
            </a:pPr>
            <a:r>
              <a:rPr b="1" sz="1400">
                <a:solidFill>
                  <a:srgbClr val="1B365D"/>
                </a:solidFill>
                <a:latin typeface="Times New Roman"/>
              </a:rPr>
              <a:t>• Team Name (Registered on portal) –</a:t>
            </a:r>
            <a:r>
              <a:rPr sz="1400" b="1">
                <a:solidFill>
                  <a:srgbClr val="14181E"/>
                </a:solidFill>
                <a:latin typeface="Times New Roman"/>
              </a:rPr>
              <a:t> OmniTransform</a:t>
            </a:r>
          </a:p>
          <a:p>
            <a:pPr>
              <a:spcAft>
                <a:spcPts val="1000"/>
              </a:spcAft>
            </a:pPr>
            <a:r>
              <a:rPr b="1" sz="1400">
                <a:solidFill>
                  <a:srgbClr val="1B365D"/>
                </a:solidFill>
                <a:latin typeface="Times New Roman"/>
              </a:rPr>
              <a:t>• Idea Title –</a:t>
            </a:r>
            <a:r>
              <a:rPr sz="1400" b="1">
                <a:solidFill>
                  <a:srgbClr val="14181E"/>
                </a:solidFill>
                <a:latin typeface="Times New Roman"/>
              </a:rPr>
              <a:t> OmniTransform AI - Automated Multi-Format Content Platform</a:t>
            </a:r>
          </a:p>
        </p:txBody>
      </p:sp>
      <p:pic>
        <p:nvPicPr>
          <p:cNvPr id="5" name="Picture 4" descr="sih_official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1828800"/>
            <a:ext cx="3474720" cy="178930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274320"/>
            <a:ext cx="1645920" cy="914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14181E"/>
                </a:solidFill>
                <a:latin typeface="Arial"/>
              </a:defRPr>
            </a:pPr>
            <a:r>
              <a:t>Your Team</a:t>
            </a:r>
          </a:p>
          <a:p>
            <a:pPr algn="ctr">
              <a:defRPr sz="1100">
                <a:solidFill>
                  <a:srgbClr val="14181E"/>
                </a:solidFill>
                <a:latin typeface="Arial"/>
              </a:defRPr>
            </a:pPr>
            <a:r>
              <a:t>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320040"/>
            <a:ext cx="6217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B365D"/>
                </a:solidFill>
                <a:latin typeface="Times New Roman"/>
              </a:defRPr>
            </a:pPr>
            <a:r>
              <a:t>IDEA TITLE: OmniTransform AI</a:t>
            </a:r>
          </a:p>
        </p:txBody>
      </p:sp>
      <p:pic>
        <p:nvPicPr>
          <p:cNvPr id="4" name="Picture 3" descr="sih_official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0" y="228600"/>
            <a:ext cx="2743200" cy="141261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7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73952"/>
            <a:ext cx="731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23444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 u="sng">
                <a:solidFill>
                  <a:srgbClr val="1B365D"/>
                </a:solidFill>
                <a:latin typeface="Times New Roman"/>
              </a:defRPr>
            </a:pPr>
            <a:r>
              <a:t>• Proposed Solution (Describe your Idea/Solution/Prototype)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828800"/>
            <a:ext cx="3383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B365D"/>
                </a:solidFill>
                <a:latin typeface="Times New Roman"/>
              </a:defRPr>
            </a:pPr>
            <a:r>
              <a:t>• Detailed explanation of the proposed solution</a:t>
            </a:r>
          </a:p>
          <a:p>
            <a:pPr>
              <a:spcAft>
                <a:spcPts val="800"/>
              </a:spcAft>
              <a:defRPr sz="1200">
                <a:solidFill>
                  <a:srgbClr val="14181E"/>
                </a:solidFill>
                <a:latin typeface="Arial"/>
              </a:defRPr>
            </a:pPr>
            <a:r>
              <a:t>An automated system that ingests long PDFs, security advisories, and policy whitepapers, converting them into 5 ready-to-use formats in under 10 seconds:</a:t>
            </a:r>
          </a:p>
          <a:p>
            <a:pPr>
              <a:spcAft>
                <a:spcPts val="400"/>
              </a:spcAft>
              <a:defRPr sz="1150">
                <a:solidFill>
                  <a:srgbClr val="14181E"/>
                </a:solidFill>
                <a:latin typeface="Arial"/>
              </a:defRPr>
            </a:pPr>
            <a:r>
              <a:t>   1. 1-Page Executive Summary Memo</a:t>
            </a:r>
          </a:p>
          <a:p>
            <a:pPr>
              <a:spcAft>
                <a:spcPts val="400"/>
              </a:spcAft>
              <a:defRPr sz="1150">
                <a:solidFill>
                  <a:srgbClr val="14181E"/>
                </a:solidFill>
                <a:latin typeface="Arial"/>
              </a:defRPr>
            </a:pPr>
            <a:r>
              <a:t>   2. Presentation Slide Deck</a:t>
            </a:r>
          </a:p>
          <a:p>
            <a:pPr>
              <a:spcAft>
                <a:spcPts val="400"/>
              </a:spcAft>
              <a:defRPr sz="1150">
                <a:solidFill>
                  <a:srgbClr val="14181E"/>
                </a:solidFill>
                <a:latin typeface="Arial"/>
              </a:defRPr>
            </a:pPr>
            <a:r>
              <a:t>   3. Infographics &amp; Visual Data Cards</a:t>
            </a:r>
          </a:p>
          <a:p>
            <a:pPr>
              <a:spcAft>
                <a:spcPts val="400"/>
              </a:spcAft>
              <a:defRPr sz="1150">
                <a:solidFill>
                  <a:srgbClr val="14181E"/>
                </a:solidFill>
                <a:latin typeface="Arial"/>
              </a:defRPr>
            </a:pPr>
            <a:r>
              <a:t>   4. Multilingual Press Release (English &amp; Regional)</a:t>
            </a:r>
          </a:p>
          <a:p>
            <a:pPr>
              <a:spcAft>
                <a:spcPts val="400"/>
              </a:spcAft>
              <a:defRPr sz="1150">
                <a:solidFill>
                  <a:srgbClr val="14181E"/>
                </a:solidFill>
                <a:latin typeface="Arial"/>
              </a:defRPr>
            </a:pPr>
            <a:r>
              <a:t>   5. 60-Second Voice Audio Briefing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828800"/>
            <a:ext cx="3383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B365D"/>
                </a:solidFill>
                <a:latin typeface="Times New Roman"/>
              </a:defRPr>
            </a:pPr>
            <a:r>
              <a:t>• How it addresses the problem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- Saves Analyst Time: </a:t>
            </a:r>
            <a:r>
              <a:rPr sz="1200">
                <a:solidFill>
                  <a:srgbClr val="14181E"/>
                </a:solidFill>
                <a:latin typeface="Arial"/>
              </a:rPr>
              <a:t>Officers spend 4–6 hours daily converting reports into slides and briefs. OmniTransform automates this in seconds.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- Eliminates Multiple Tools: </a:t>
            </a:r>
            <a:r>
              <a:rPr sz="1200">
                <a:solidFill>
                  <a:srgbClr val="14181E"/>
                </a:solidFill>
                <a:latin typeface="Arial"/>
              </a:rPr>
              <a:t>Replaces separate design, translation, and summary tools with one integrated workflow.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- Enables Fast Decision Making: </a:t>
            </a:r>
            <a:r>
              <a:rPr sz="1200">
                <a:solidFill>
                  <a:srgbClr val="14181E"/>
                </a:solidFill>
                <a:latin typeface="Arial"/>
              </a:rPr>
              <a:t>Executives and leaders can quickly review key takeaways during critical events.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- Accurate &amp; Verifiable: </a:t>
            </a:r>
            <a:r>
              <a:rPr sz="1200">
                <a:solidFill>
                  <a:srgbClr val="14181E"/>
                </a:solidFill>
                <a:latin typeface="Arial"/>
              </a:rPr>
              <a:t>Every generated point links back directly to the source page in the PDF.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0" y="1828800"/>
            <a:ext cx="3383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B365D"/>
                </a:solidFill>
                <a:latin typeface="Times New Roman"/>
              </a:defRPr>
            </a:pPr>
            <a:r>
              <a:t>• Innovation and uniqueness of the solution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- Interactive Source Citations: </a:t>
            </a:r>
            <a:r>
              <a:rPr sz="1200">
                <a:solidFill>
                  <a:srgbClr val="14181E"/>
                </a:solidFill>
                <a:latin typeface="Arial"/>
              </a:rPr>
              <a:t>Click any summary point to highlight the exact sentence in the original PDF.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- Audience-Specific Views: </a:t>
            </a:r>
            <a:r>
              <a:rPr sz="1200">
                <a:solidFill>
                  <a:srgbClr val="14181E"/>
                </a:solidFill>
                <a:latin typeface="Arial"/>
              </a:rPr>
              <a:t>Switch between an Executive Brief, Citizen Explainer, or Technical Advisory with 1 click.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- Works Completely Offline: </a:t>
            </a:r>
            <a:r>
              <a:rPr sz="1200">
                <a:solidFill>
                  <a:srgbClr val="14181E"/>
                </a:solidFill>
                <a:latin typeface="Arial"/>
              </a:rPr>
              <a:t>Can run on local GPU servers without sending sensitive data to external cloud APIs.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- Multi-Format Synchronized Output: </a:t>
            </a:r>
            <a:r>
              <a:rPr sz="1200">
                <a:solidFill>
                  <a:srgbClr val="14181E"/>
                </a:solidFill>
                <a:latin typeface="Arial"/>
              </a:rPr>
              <a:t>Generates all 5 formats simultaneously from a single document upload.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274320"/>
            <a:ext cx="1645920" cy="914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14181E"/>
                </a:solidFill>
                <a:latin typeface="Arial"/>
              </a:defRPr>
            </a:pPr>
            <a:r>
              <a:t>Your Team</a:t>
            </a:r>
          </a:p>
          <a:p>
            <a:pPr algn="ctr">
              <a:defRPr sz="1100">
                <a:solidFill>
                  <a:srgbClr val="14181E"/>
                </a:solidFill>
                <a:latin typeface="Arial"/>
              </a:defRPr>
            </a:pPr>
            <a:r>
              <a:t>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320040"/>
            <a:ext cx="6217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B365D"/>
                </a:solidFill>
                <a:latin typeface="Times New Roman"/>
              </a:defRPr>
            </a:pPr>
            <a:r>
              <a:t>TECHNICAL APPROACH</a:t>
            </a:r>
          </a:p>
        </p:txBody>
      </p:sp>
      <p:pic>
        <p:nvPicPr>
          <p:cNvPr id="4" name="Picture 3" descr="sih_official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0" y="228600"/>
            <a:ext cx="2743200" cy="141261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7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73952"/>
            <a:ext cx="731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234440"/>
            <a:ext cx="4206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 u="sng">
                <a:solidFill>
                  <a:srgbClr val="1B365D"/>
                </a:solidFill>
                <a:latin typeface="Times New Roman"/>
              </a:defRPr>
            </a:pPr>
            <a:r>
              <a:t>• Technologies to be used</a:t>
            </a:r>
          </a:p>
          <a:p>
            <a:pPr>
              <a:spcAft>
                <a:spcPts val="5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Frontend: </a:t>
            </a:r>
            <a:r>
              <a:rPr sz="1100">
                <a:solidFill>
                  <a:srgbClr val="14181E"/>
                </a:solidFill>
                <a:latin typeface="Arial"/>
              </a:rPr>
              <a:t>Next.js / React, Tailwind CSS, PDF.js document viewer.</a:t>
            </a:r>
          </a:p>
          <a:p>
            <a:pPr>
              <a:spcAft>
                <a:spcPts val="5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Backend &amp; Parser: </a:t>
            </a:r>
            <a:r>
              <a:rPr sz="1100">
                <a:solidFill>
                  <a:srgbClr val="14181E"/>
                </a:solidFill>
                <a:latin typeface="Arial"/>
              </a:rPr>
              <a:t>Python FastAPI, PyMuPDF, pdfplumber for table parsing.</a:t>
            </a:r>
          </a:p>
          <a:p>
            <a:pPr>
              <a:spcAft>
                <a:spcPts val="5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AI Models: </a:t>
            </a:r>
            <a:r>
              <a:rPr sz="1100">
                <a:solidFill>
                  <a:srgbClr val="14181E"/>
                </a:solidFill>
                <a:latin typeface="Arial"/>
              </a:rPr>
              <a:t>Llama 3 (8B/70B) / Mistral, IndicBERT (Indian languages).</a:t>
            </a:r>
          </a:p>
          <a:p>
            <a:pPr>
              <a:spcAft>
                <a:spcPts val="5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Slide &amp; Graphic Rendering: </a:t>
            </a:r>
            <a:r>
              <a:rPr sz="1100">
                <a:solidFill>
                  <a:srgbClr val="14181E"/>
                </a:solidFill>
                <a:latin typeface="Arial"/>
              </a:rPr>
              <a:t>Marp slide compiler, Canvas HTML-to-Image API.</a:t>
            </a:r>
          </a:p>
          <a:p>
            <a:pPr>
              <a:spcAft>
                <a:spcPts val="5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Voice Generation: </a:t>
            </a:r>
            <a:r>
              <a:rPr sz="1100">
                <a:solidFill>
                  <a:srgbClr val="14181E"/>
                </a:solidFill>
                <a:latin typeface="Arial"/>
              </a:rPr>
              <a:t>Piper Neural TTS (lightweight, runs locally offline).</a:t>
            </a:r>
          </a:p>
          <a:p>
            <a:pPr>
              <a:spcAft>
                <a:spcPts val="5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Database &amp; Vector Search: </a:t>
            </a:r>
            <a:r>
              <a:rPr sz="1100">
                <a:solidFill>
                  <a:srgbClr val="14181E"/>
                </a:solidFill>
                <a:latin typeface="Arial"/>
              </a:rPr>
              <a:t>FAISS / ChromaDB for document search &amp; citations.</a:t>
            </a:r>
          </a:p>
          <a:p>
            <a:pPr>
              <a:spcAft>
                <a:spcPts val="5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Deployment: </a:t>
            </a:r>
            <a:r>
              <a:rPr sz="1100">
                <a:solidFill>
                  <a:srgbClr val="14181E"/>
                </a:solidFill>
                <a:latin typeface="Arial"/>
              </a:rPr>
              <a:t>Docker containerized, can run air-gapped on Linux/Windows.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1234440"/>
            <a:ext cx="6400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 u="sng">
                <a:solidFill>
                  <a:srgbClr val="1B365D"/>
                </a:solidFill>
                <a:latin typeface="Times New Roman"/>
              </a:defRPr>
            </a:pPr>
            <a:r>
              <a:t>• Methodology and process for implementation (Flow Chart)</a:t>
            </a:r>
          </a:p>
        </p:txBody>
      </p:sp>
      <p:pic>
        <p:nvPicPr>
          <p:cNvPr id="10" name="Picture 9" descr="omnitransform_pipeline_flow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0" y="1737360"/>
            <a:ext cx="6309360" cy="329939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274320"/>
            <a:ext cx="1645920" cy="914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14181E"/>
                </a:solidFill>
                <a:latin typeface="Arial"/>
              </a:defRPr>
            </a:pPr>
            <a:r>
              <a:t>Your Team</a:t>
            </a:r>
          </a:p>
          <a:p>
            <a:pPr algn="ctr">
              <a:defRPr sz="1100">
                <a:solidFill>
                  <a:srgbClr val="14181E"/>
                </a:solidFill>
                <a:latin typeface="Arial"/>
              </a:defRPr>
            </a:pPr>
            <a:r>
              <a:t>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320040"/>
            <a:ext cx="6217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B365D"/>
                </a:solidFill>
                <a:latin typeface="Times New Roman"/>
              </a:defRPr>
            </a:pPr>
            <a:r>
              <a:t>FEASIBILITY AND VIABILITY</a:t>
            </a:r>
          </a:p>
        </p:txBody>
      </p:sp>
      <p:pic>
        <p:nvPicPr>
          <p:cNvPr id="4" name="Picture 3" descr="sih_official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0" y="228600"/>
            <a:ext cx="2743200" cy="141261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7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73952"/>
            <a:ext cx="731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23444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 u="sng">
                <a:solidFill>
                  <a:srgbClr val="1B365D"/>
                </a:solidFill>
                <a:latin typeface="Times New Roman"/>
              </a:defRPr>
            </a:pPr>
            <a:r>
              <a:t>• Analysis of the feasibility of the idea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- Technical Feasibility: </a:t>
            </a:r>
            <a:r>
              <a:rPr sz="1200">
                <a:solidFill>
                  <a:srgbClr val="14181E"/>
                </a:solidFill>
                <a:latin typeface="Arial"/>
              </a:rPr>
              <a:t>Uses open-source models and standard document parsers. Tested with sample 30+ page government PDFs.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- Hardware Requirements: </a:t>
            </a:r>
            <a:r>
              <a:rPr sz="1200">
                <a:solidFill>
                  <a:srgbClr val="14181E"/>
                </a:solidFill>
                <a:latin typeface="Arial"/>
              </a:rPr>
              <a:t>Runs on a single workstation with an NVIDIA GPU (RTX 3060 or higher) using 4-bit quantized open-source models.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- Deployment Feasibility: </a:t>
            </a:r>
            <a:r>
              <a:rPr sz="1200">
                <a:solidFill>
                  <a:srgbClr val="14181E"/>
                </a:solidFill>
                <a:latin typeface="Arial"/>
              </a:rPr>
              <a:t>Packaged with Docker for simple 1-click deployment on internal government networks without cloud setup.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383280"/>
            <a:ext cx="106984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 u="sng">
                <a:solidFill>
                  <a:srgbClr val="1B365D"/>
                </a:solidFill>
                <a:latin typeface="Times New Roman"/>
              </a:defRPr>
            </a:pPr>
            <a:r>
              <a:t>• Potential challenges and risks &amp; Strategies for overcoming these challenges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1. Risk of AI Hallucinations in Summary Briefs
  </a:t>
            </a:r>
            <a:r>
              <a:rPr sz="1150">
                <a:solidFill>
                  <a:srgbClr val="14181E"/>
                </a:solidFill>
                <a:latin typeface="Arial"/>
              </a:rPr>
              <a:t>Challenge: LLMs can sometimes generate inaccurate numbers or dates. </a:t>
            </a:r>
            <a:r>
              <a:rPr b="1" sz="1150">
                <a:solidFill>
                  <a:srgbClr val="F37021"/>
                </a:solidFill>
                <a:latin typeface="Arial"/>
              </a:rPr>
              <a:t>
  Solution: Strategy: Use strict retrieval prompts and bind every output sentence to exact source page citations.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2. Data Privacy &amp; Confidentiality
  </a:t>
            </a:r>
            <a:r>
              <a:rPr sz="1150">
                <a:solidFill>
                  <a:srgbClr val="14181E"/>
                </a:solidFill>
                <a:latin typeface="Arial"/>
              </a:rPr>
              <a:t>Challenge: Sensitive official documents cannot be sent to public AI APIs. </a:t>
            </a:r>
            <a:r>
              <a:rPr b="1" sz="1150">
                <a:solidFill>
                  <a:srgbClr val="F37021"/>
                </a:solidFill>
                <a:latin typeface="Arial"/>
              </a:rPr>
              <a:t>
  Solution: Strategy: Host open-source models (Llama 3 / Mistral) entirely on local private servers.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3. Complex Multi-Column Layouts &amp; Tables
  </a:t>
            </a:r>
            <a:r>
              <a:rPr sz="1150">
                <a:solidFill>
                  <a:srgbClr val="14181E"/>
                </a:solidFill>
                <a:latin typeface="Arial"/>
              </a:rPr>
              <a:t>Challenge: Standard PDF text extractors scramble tables and multi-column text. </a:t>
            </a:r>
            <a:r>
              <a:rPr b="1" sz="1150">
                <a:solidFill>
                  <a:srgbClr val="F37021"/>
                </a:solidFill>
                <a:latin typeface="Arial"/>
              </a:rPr>
              <a:t>
  Solution: Strategy: Use PyMuPDF spatial coordinate extraction and pdfplumber table bounding boxes.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274320"/>
            <a:ext cx="1645920" cy="914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14181E"/>
                </a:solidFill>
                <a:latin typeface="Arial"/>
              </a:defRPr>
            </a:pPr>
            <a:r>
              <a:t>Your Team</a:t>
            </a:r>
          </a:p>
          <a:p>
            <a:pPr algn="ctr">
              <a:defRPr sz="1100">
                <a:solidFill>
                  <a:srgbClr val="14181E"/>
                </a:solidFill>
                <a:latin typeface="Arial"/>
              </a:defRPr>
            </a:pPr>
            <a:r>
              <a:t>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320040"/>
            <a:ext cx="6217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B365D"/>
                </a:solidFill>
                <a:latin typeface="Times New Roman"/>
              </a:defRPr>
            </a:pPr>
            <a:r>
              <a:t>IMPACT AND BENEFITS</a:t>
            </a:r>
          </a:p>
        </p:txBody>
      </p:sp>
      <p:pic>
        <p:nvPicPr>
          <p:cNvPr id="4" name="Picture 3" descr="sih_official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0" y="228600"/>
            <a:ext cx="2743200" cy="141261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7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73952"/>
            <a:ext cx="731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234440"/>
            <a:ext cx="52120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 u="sng">
                <a:solidFill>
                  <a:srgbClr val="1B365D"/>
                </a:solidFill>
                <a:latin typeface="Times New Roman"/>
              </a:defRPr>
            </a:pPr>
            <a:r>
              <a:t>• Potential impact on the target audience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- Defense &amp; Intelligence Analysts (NTRO / MoD):
  </a:t>
            </a:r>
            <a:r>
              <a:rPr sz="1150">
                <a:solidFill>
                  <a:srgbClr val="14181E"/>
                </a:solidFill>
                <a:latin typeface="Arial"/>
              </a:rPr>
              <a:t>Saves 4 to 6 hours daily per analyst by instantly synthesizing long threat advisories and technical reports.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- Senior Officials &amp; Executives:
  </a:t>
            </a:r>
            <a:r>
              <a:rPr sz="1150">
                <a:solidFill>
                  <a:srgbClr val="14181E"/>
                </a:solidFill>
                <a:latin typeface="Arial"/>
              </a:rPr>
              <a:t>Provides 1-page summaries and ready-to-present slide decks for urgent decision meetings.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- Public Relations &amp; Media Officers:
  </a:t>
            </a:r>
            <a:r>
              <a:rPr sz="1150">
                <a:solidFill>
                  <a:srgbClr val="14181E"/>
                </a:solidFill>
                <a:latin typeface="Arial"/>
              </a:rPr>
              <a:t>Quickly converts technical policy documents into public press releases and infographics in English and regional languages.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- Field Staff &amp; Mobile Teams:
  </a:t>
            </a:r>
            <a:r>
              <a:rPr sz="1150">
                <a:solidFill>
                  <a:srgbClr val="14181E"/>
                </a:solidFill>
                <a:latin typeface="Arial"/>
              </a:rPr>
              <a:t>Allows personnel to listen to 60-second audio podcast briefings on the go.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234440"/>
            <a:ext cx="52120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 u="sng">
                <a:solidFill>
                  <a:srgbClr val="1B365D"/>
                </a:solidFill>
                <a:latin typeface="Times New Roman"/>
              </a:defRPr>
            </a:pPr>
            <a:r>
              <a:t>• Benefits of the solution (social, economic, etc.)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- Time &amp; Cost Savings:
  </a:t>
            </a:r>
            <a:r>
              <a:rPr sz="1150">
                <a:solidFill>
                  <a:srgbClr val="14181E"/>
                </a:solidFill>
                <a:latin typeface="Arial"/>
              </a:rPr>
              <a:t>Reduces manual document formatting and translation time by over 80%, saving departmental resources.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- Regional Language Accessibility:
  </a:t>
            </a:r>
            <a:r>
              <a:rPr sz="1150">
                <a:solidFill>
                  <a:srgbClr val="14181E"/>
                </a:solidFill>
                <a:latin typeface="Arial"/>
              </a:rPr>
              <a:t>Bridges language barriers by translating government policies into Hindi, Kannada, and other Indian languages.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- Enhanced Information Security:
  </a:t>
            </a:r>
            <a:r>
              <a:rPr sz="1150">
                <a:solidFill>
                  <a:srgbClr val="14181E"/>
                </a:solidFill>
                <a:latin typeface="Arial"/>
              </a:rPr>
              <a:t>100% data remains on internal servers with zero risk of leaks to third-party APIs.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- Eco-Friendly &amp; Paperless:
  </a:t>
            </a:r>
            <a:r>
              <a:rPr sz="1150">
                <a:solidFill>
                  <a:srgbClr val="14181E"/>
                </a:solidFill>
                <a:latin typeface="Arial"/>
              </a:rPr>
              <a:t>Reduces printing of bulky multi-page reports by providing interactive digital memos and presentations.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274320"/>
            <a:ext cx="1645920" cy="914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14181E"/>
                </a:solidFill>
                <a:latin typeface="Arial"/>
              </a:defRPr>
            </a:pPr>
            <a:r>
              <a:t>Your Team</a:t>
            </a:r>
          </a:p>
          <a:p>
            <a:pPr algn="ctr">
              <a:defRPr sz="1100">
                <a:solidFill>
                  <a:srgbClr val="14181E"/>
                </a:solidFill>
                <a:latin typeface="Arial"/>
              </a:defRPr>
            </a:pPr>
            <a:r>
              <a:t>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320040"/>
            <a:ext cx="6217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B365D"/>
                </a:solidFill>
                <a:latin typeface="Times New Roman"/>
              </a:defRPr>
            </a:pPr>
            <a:r>
              <a:t>RESEARCH AND REFERENCES</a:t>
            </a:r>
          </a:p>
        </p:txBody>
      </p:sp>
      <p:pic>
        <p:nvPicPr>
          <p:cNvPr id="4" name="Picture 3" descr="sih_official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0" y="228600"/>
            <a:ext cx="2743200" cy="141261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7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73952"/>
            <a:ext cx="731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rial"/>
              </a:defRPr>
            </a:pPr>
            <a: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234440"/>
            <a:ext cx="52120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 u="sng">
                <a:solidFill>
                  <a:srgbClr val="1B365D"/>
                </a:solidFill>
                <a:latin typeface="Times New Roman"/>
              </a:defRPr>
            </a:pPr>
            <a:r>
              <a:t>• Details / Links of the reference and research work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- Retrieval-Augmented Generation (RAG):
  </a:t>
            </a:r>
            <a:r>
              <a:rPr sz="1150">
                <a:solidFill>
                  <a:srgbClr val="14181E"/>
                </a:solidFill>
                <a:latin typeface="Arial"/>
              </a:rPr>
              <a:t>Lewis et al. (NeurIPS 2020) — Foundation for verifiable knowledge retrieval.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- Open-Weight Foundation Models:
  </a:t>
            </a:r>
            <a:r>
              <a:rPr sz="1150">
                <a:solidFill>
                  <a:srgbClr val="14181E"/>
                </a:solidFill>
                <a:latin typeface="Arial"/>
              </a:rPr>
              <a:t>Meta Llama 3 &amp; Mistral AI Research Papers on Instruction Tuning (2024).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- Multilingual NLP for Indian Languages:
  </a:t>
            </a:r>
            <a:r>
              <a:rPr sz="1150">
                <a:solidFill>
                  <a:srgbClr val="14181E"/>
                </a:solidFill>
                <a:latin typeface="Arial"/>
              </a:rPr>
              <a:t>AI4Bharat &amp; Bhashini Project Research on IndicBERT (2023).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- Document Layout Analysis:
  </a:t>
            </a:r>
            <a:r>
              <a:rPr sz="1150">
                <a:solidFill>
                  <a:srgbClr val="14181E"/>
                </a:solidFill>
                <a:latin typeface="Arial"/>
              </a:rPr>
              <a:t>PyMuPDF spatial coordinate mapping and bounding box extraction standards.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234440"/>
            <a:ext cx="52120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 u="sng">
                <a:solidFill>
                  <a:srgbClr val="1B365D"/>
                </a:solidFill>
                <a:latin typeface="Times New Roman"/>
              </a:defRPr>
            </a:pPr>
            <a:r>
              <a:t>• Official Portals &amp; Project Verification Links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- SIH 2026 Problem Statement 26154:
  </a:t>
            </a:r>
            <a:r>
              <a:rPr sz="1100">
                <a:solidFill>
                  <a:srgbClr val="0077C8"/>
                </a:solidFill>
                <a:latin typeface="Arial"/>
              </a:rPr>
              <a:t>https://www.sih.gov.in/sih2026PS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- NTRO Official Government Website:
  </a:t>
            </a:r>
            <a:r>
              <a:rPr sz="1100">
                <a:solidFill>
                  <a:srgbClr val="0077C8"/>
                </a:solidFill>
                <a:latin typeface="Arial"/>
              </a:rPr>
              <a:t>https://ntro.gov.in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- Live Web Prototype &amp; Design:
  </a:t>
            </a:r>
            <a:r>
              <a:rPr sz="1100">
                <a:solidFill>
                  <a:srgbClr val="0077C8"/>
                </a:solidFill>
                <a:latin typeface="Arial"/>
              </a:rPr>
              <a:t>https://hrl-brand-seo.vercel.app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- GitHub Project Repository:
  </a:t>
            </a:r>
            <a:r>
              <a:rPr sz="1100">
                <a:solidFill>
                  <a:srgbClr val="0077C8"/>
                </a:solidFill>
                <a:latin typeface="Arial"/>
              </a:rPr>
              <a:t>https://github.com/hrlpavan/sih-2026-media-problem-statements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- Winning Strategy &amp; Technical Documentation:
  </a:t>
            </a:r>
            <a:r>
              <a:rPr sz="1100">
                <a:solidFill>
                  <a:srgbClr val="0077C8"/>
                </a:solidFill>
                <a:latin typeface="Arial"/>
              </a:rPr>
              <a:t>https://github.com/hrlpavan/sih-2026-media-problem-statements/blob/main/WINNING_STRATEGY_PS26154.md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