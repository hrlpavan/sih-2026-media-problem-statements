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6809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750">
                <a:solidFill>
                  <a:srgbClr val="141414"/>
                </a:solidFill>
                <a:latin typeface="Times New Roman"/>
              </a:rPr>
              <a:t>• Problem Statement ID – </a:t>
            </a:r>
            <a:r>
              <a:rPr b="1" sz="1750" u="none">
                <a:solidFill>
                  <a:srgbClr val="141414"/>
                </a:solidFill>
                <a:latin typeface="Arial"/>
              </a:rPr>
              <a:t>26154</a:t>
            </a:r>
          </a:p>
          <a:p>
            <a:pPr>
              <a:spcAft>
                <a:spcPts val="1000"/>
              </a:spcAft>
            </a:pPr>
            <a:r>
              <a:rPr b="1" sz="1750">
                <a:solidFill>
                  <a:srgbClr val="141414"/>
                </a:solidFill>
                <a:latin typeface="Times New Roman"/>
              </a:rPr>
              <a:t>• Problem Statement Title - </a:t>
            </a:r>
            <a:r>
              <a:rPr b="1" sz="1750" u="none">
                <a:solidFill>
                  <a:srgbClr val="141414"/>
                </a:solidFill>
                <a:latin typeface="Arial"/>
              </a:rPr>
              <a:t>Gen AI Platform for Automated Content Transformation</a:t>
            </a:r>
          </a:p>
          <a:p>
            <a:pPr>
              <a:spcAft>
                <a:spcPts val="1000"/>
              </a:spcAft>
            </a:pPr>
            <a:r>
              <a:rPr b="1" sz="1750">
                <a:solidFill>
                  <a:srgbClr val="141414"/>
                </a:solidFill>
                <a:latin typeface="Times New Roman"/>
              </a:rPr>
              <a:t>• Theme - </a:t>
            </a:r>
            <a:r>
              <a:rPr b="0" sz="1750" u="none">
                <a:solidFill>
                  <a:srgbClr val="141414"/>
                </a:solidFill>
                <a:latin typeface="Arial"/>
              </a:rPr>
              <a:t>Miscellaneous / AI</a:t>
            </a:r>
          </a:p>
          <a:p>
            <a:pPr>
              <a:spcAft>
                <a:spcPts val="1000"/>
              </a:spcAft>
            </a:pPr>
            <a:r>
              <a:rPr b="1" sz="1750">
                <a:solidFill>
                  <a:srgbClr val="141414"/>
                </a:solidFill>
                <a:latin typeface="Times New Roman"/>
              </a:rPr>
              <a:t>• PS Category - </a:t>
            </a:r>
            <a:r>
              <a:rPr b="0" sz="1750" u="none">
                <a:solidFill>
                  <a:srgbClr val="141414"/>
                </a:solidFill>
                <a:latin typeface="Arial"/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b="1" sz="1750">
                <a:solidFill>
                  <a:srgbClr val="141414"/>
                </a:solidFill>
                <a:latin typeface="Times New Roman"/>
              </a:rPr>
              <a:t>• Team ID - </a:t>
            </a:r>
            <a:r>
              <a:rPr b="0" sz="1750" u="none">
                <a:solidFill>
                  <a:srgbClr val="141414"/>
                </a:solidFill>
                <a:latin typeface="Arial"/>
              </a:rPr>
              <a:t>104580</a:t>
            </a:r>
          </a:p>
          <a:p>
            <a:pPr>
              <a:spcAft>
                <a:spcPts val="1000"/>
              </a:spcAft>
            </a:pPr>
            <a:r>
              <a:rPr b="1" sz="1750">
                <a:solidFill>
                  <a:srgbClr val="141414"/>
                </a:solidFill>
                <a:latin typeface="Times New Roman"/>
              </a:rPr>
              <a:t>• Team Name - </a:t>
            </a:r>
            <a:r>
              <a:rPr b="1" sz="1750" u="none">
                <a:solidFill>
                  <a:srgbClr val="141414"/>
                </a:solidFill>
                <a:latin typeface="Arial"/>
              </a:rPr>
              <a:t>HRL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1B365D"/>
                </a:solidFill>
                <a:latin typeface="Times New Roman"/>
              </a:rPr>
              <a:t>• Project Resources - </a:t>
            </a:r>
            <a:r>
              <a:rPr b="1" sz="1400" u="sng">
                <a:solidFill>
                  <a:srgbClr val="0077C8"/>
                </a:solidFill>
                <a:latin typeface="Arial"/>
              </a:rPr>
              <a:t>https://github.com/hrlpavan/omnitransform-ai-resources</a:t>
            </a:r>
          </a:p>
        </p:txBody>
      </p:sp>
      <p:pic>
        <p:nvPicPr>
          <p:cNvPr id="4" name="Picture 3" descr="hrl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2011680"/>
            <a:ext cx="3017520" cy="10906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1B365D"/>
                </a:solidFill>
                <a:latin typeface="Times New Roman"/>
              </a:defRPr>
            </a:pPr>
            <a:r>
              <a:t>TEAM: HRL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B365D"/>
                </a:solidFill>
                <a:latin typeface="Times New Roman"/>
              </a:defRPr>
            </a:pPr>
            <a:r>
              <a:t>OMNITRANSFORM (ALL-IN-ONE) AI CONTENT PLATFORM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3474720" cy="411480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Proposed Solution Overview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3474720" cy="4617720"/>
          </a:xfrm>
          <a:prstGeom prst="rect">
            <a:avLst/>
          </a:prstGeom>
          <a:solidFill>
            <a:srgbClr val="F5F8FA"/>
          </a:solidFill>
          <a:ln w="1270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Simple Web Platform: </a:t>
            </a:r>
            <a:r>
              <a:rPr sz="1050">
                <a:solidFill>
                  <a:srgbClr val="141414"/>
                </a:solidFill>
                <a:latin typeface="Arial"/>
              </a:rPr>
              <a:t>A clean and fast web application built for government officers, analysts, and students.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Upload Any Document: </a:t>
            </a:r>
            <a:r>
              <a:rPr sz="1050">
                <a:solidFill>
                  <a:srgbClr val="141414"/>
                </a:solidFill>
                <a:latin typeface="Arial"/>
              </a:rPr>
              <a:t>Takes long PDFs, research whitepapers, and government reports up to 100+ pages.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5 Output Formats in Seconds: </a:t>
            </a:r>
            <a:r>
              <a:rPr sz="1050">
                <a:solidFill>
                  <a:srgbClr val="141414"/>
                </a:solidFill>
                <a:latin typeface="Arial"/>
              </a:rPr>
              <a:t>Automatically creates 1-page memo, presentation slides, infographics, press release, and 60s voice audio.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Saves Hours of Manual Work: </a:t>
            </a:r>
            <a:r>
              <a:rPr sz="1050">
                <a:solidFill>
                  <a:srgbClr val="141414"/>
                </a:solidFill>
                <a:latin typeface="Arial"/>
              </a:rPr>
              <a:t>Officers save 4 to 6 hours daily spent on manually typing summaries and designing PPTs.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Accurate Page References: </a:t>
            </a:r>
            <a:r>
              <a:rPr sz="1050">
                <a:solidFill>
                  <a:srgbClr val="141414"/>
                </a:solidFill>
                <a:latin typeface="Arial"/>
              </a:rPr>
              <a:t>Every bullet point links directly to the exact page and line in the original PDF file.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Works 100% Offline: </a:t>
            </a:r>
            <a:r>
              <a:rPr sz="1050">
                <a:solidFill>
                  <a:srgbClr val="141414"/>
                </a:solidFill>
                <a:latin typeface="Arial"/>
              </a:rPr>
              <a:t>Can be installed on local office servers without sending sensitive data to the internet.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188720"/>
            <a:ext cx="3474720" cy="411480"/>
          </a:xfrm>
          <a:prstGeom prst="rect">
            <a:avLst/>
          </a:prstGeom>
          <a:solidFill>
            <a:srgbClr val="3C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Key Feature &amp; Technology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600200"/>
            <a:ext cx="3474720" cy="4617720"/>
          </a:xfrm>
          <a:prstGeom prst="rect">
            <a:avLst/>
          </a:prstGeom>
          <a:solidFill>
            <a:srgbClr val="F5F8FA"/>
          </a:solidFill>
          <a:ln w="1270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Smart PDF Parser: </a:t>
            </a:r>
            <a:r>
              <a:rPr sz="1050">
                <a:solidFill>
                  <a:srgbClr val="141414"/>
                </a:solidFill>
                <a:latin typeface="Arial"/>
              </a:rPr>
              <a:t>Extracts clean text, headings, and complex tables using PyMuPDF and pdfplumber.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Fast AI Summarization: </a:t>
            </a:r>
            <a:r>
              <a:rPr sz="1050">
                <a:solidFill>
                  <a:srgbClr val="141414"/>
                </a:solidFill>
                <a:latin typeface="Arial"/>
              </a:rPr>
              <a:t>Uses open-source Llama 3 and Mistral models to extract key decisions and highlights.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Slide Deck Creator: </a:t>
            </a:r>
            <a:r>
              <a:rPr sz="1050">
                <a:solidFill>
                  <a:srgbClr val="141414"/>
                </a:solidFill>
                <a:latin typeface="Arial"/>
              </a:rPr>
              <a:t>Converts raw notes into clean, formatted PowerPoint slides ready for team meetings.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Multilingual Press Release: </a:t>
            </a:r>
            <a:r>
              <a:rPr sz="1050">
                <a:solidFill>
                  <a:srgbClr val="141414"/>
                </a:solidFill>
                <a:latin typeface="Arial"/>
              </a:rPr>
              <a:t>Translates official summaries into Hindi, English, and regional Indian languages.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60-Second Audio Podcast: </a:t>
            </a:r>
            <a:r>
              <a:rPr sz="1050">
                <a:solidFill>
                  <a:srgbClr val="141414"/>
                </a:solidFill>
                <a:latin typeface="Arial"/>
              </a:rPr>
              <a:t>Generates clear voice audio briefings using local Piper neural text-to-speech.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Safe &amp; Private Database: </a:t>
            </a:r>
            <a:r>
              <a:rPr sz="1050">
                <a:solidFill>
                  <a:srgbClr val="141414"/>
                </a:solidFill>
                <a:latin typeface="Arial"/>
              </a:rPr>
              <a:t>Stores files in a local secure database with zero third-party cloud tracking.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188720"/>
            <a:ext cx="3474720" cy="411480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Innovation &amp; Social Impact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600200"/>
            <a:ext cx="3474720" cy="4617720"/>
          </a:xfrm>
          <a:prstGeom prst="rect">
            <a:avLst/>
          </a:prstGeom>
          <a:solidFill>
            <a:srgbClr val="F5F8FA"/>
          </a:solidFill>
          <a:ln w="1270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All-in-One Solution: </a:t>
            </a:r>
            <a:r>
              <a:rPr sz="1050">
                <a:solidFill>
                  <a:srgbClr val="141414"/>
                </a:solidFill>
                <a:latin typeface="Arial"/>
              </a:rPr>
              <a:t>Replaces 5 separate tools into one simple dashboard (Summary + PPT + Audio + Image + Translate).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Zero Hallucinations: </a:t>
            </a:r>
            <a:r>
              <a:rPr sz="1050">
                <a:solidFill>
                  <a:srgbClr val="141414"/>
                </a:solidFill>
                <a:latin typeface="Arial"/>
              </a:rPr>
              <a:t>The AI is locked to only use facts from the uploaded document, preventing fake numbers.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Click-to-Verify Citations: </a:t>
            </a:r>
            <a:r>
              <a:rPr sz="1050">
                <a:solidFill>
                  <a:srgbClr val="141414"/>
                </a:solidFill>
                <a:latin typeface="Arial"/>
              </a:rPr>
              <a:t>Clicking any summary sentence instantly opens the PDF with the exact sentence highlighted.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Regional Language Reach: </a:t>
            </a:r>
            <a:r>
              <a:rPr sz="1050">
                <a:solidFill>
                  <a:srgbClr val="141414"/>
                </a:solidFill>
                <a:latin typeface="Arial"/>
              </a:rPr>
              <a:t>Helps common citizens read complex government schemes in their own local language.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Fast Decision Making: </a:t>
            </a:r>
            <a:r>
              <a:rPr sz="1050">
                <a:solidFill>
                  <a:srgbClr val="141414"/>
                </a:solidFill>
                <a:latin typeface="Arial"/>
              </a:rPr>
              <a:t>Leaders and senior officers can review urgent threat alerts in under 1 minute.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Low Cost &amp; Open Source: </a:t>
            </a:r>
            <a:r>
              <a:rPr sz="1050">
                <a:solidFill>
                  <a:srgbClr val="141414"/>
                </a:solidFill>
                <a:latin typeface="Arial"/>
              </a:rPr>
              <a:t>Built on free open-source software with no expensive monthly API bills.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1B365D"/>
                </a:solidFill>
                <a:latin typeface="Times New Roman"/>
              </a:defRPr>
            </a:pPr>
            <a:r>
              <a:t>TEAM: HRL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pic>
        <p:nvPicPr>
          <p:cNvPr id="8" name="Picture 7" descr="omnitransform_pipeline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6035040" cy="31559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66560" y="11887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41414"/>
                </a:solidFill>
                <a:latin typeface="Arial"/>
              </a:defRPr>
            </a:pPr>
            <a:r>
              <a:t>• Technologies that are used are Programming languages like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JavaScript with React / Next.js (Web app development),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Python FastAPI (Backend server &amp; API),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PyMuPDF &amp; pdfplumber (PDF text &amp; table extraction),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Llama 3 / Mistral (AI summarization &amp; text processing),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IndicBERT (Multiple Indian Language Translation),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SQLite / Vector DB (Database).</a:t>
            </a:r>
          </a:p>
          <a:p>
            <a:br/>
            <a:pPr>
              <a:spcAft>
                <a:spcPts val="400"/>
              </a:spcAft>
              <a:defRPr sz="1300" b="1">
                <a:solidFill>
                  <a:srgbClr val="141414"/>
                </a:solidFill>
                <a:latin typeface="Arial"/>
              </a:defRPr>
            </a:pPr>
            <a:r>
              <a:t>• Methodology and process for implementation :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1) User uploads PDF / Document to web dashboard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2) Parser extracts text, headings, and data tables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3) AI creates 1-page summary &amp; formatted slide deck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4) Audio engine synthesizes 60s voice podcast briefing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5) User previews live and downloads all 5 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5577840"/>
            <a:ext cx="48463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0077C8"/>
                </a:solidFill>
                <a:latin typeface="Arial"/>
              </a:defRPr>
            </a:pPr>
            <a:r>
              <a:t>APP PROTOTYPE &amp; RESOURCE REPOSITORY LINK</a:t>
            </a:r>
          </a:p>
          <a:p>
            <a:pPr>
              <a:defRPr sz="1200" b="1" u="sng">
                <a:solidFill>
                  <a:srgbClr val="0077C8"/>
                </a:solidFill>
                <a:latin typeface="Arial"/>
              </a:defRPr>
            </a:pPr>
            <a:r>
              <a:t>https://github.com/hrlpavan/omnitransform-ai-resources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1B365D"/>
                </a:solidFill>
                <a:latin typeface="Times New Roman"/>
              </a:defRPr>
            </a:pPr>
            <a:r>
              <a:t>TEAM: HRL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41414"/>
                </a:solidFill>
                <a:latin typeface="Arial"/>
              </a:defRPr>
            </a:pPr>
            <a:r>
              <a:t>ANALYSIS OF THE FEASIBILITY OF THE IDEA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Technical &amp; Practical Feasibility: </a:t>
            </a:r>
            <a:r>
              <a:rPr sz="1100">
                <a:solidFill>
                  <a:srgbClr val="141414"/>
                </a:solidFill>
              </a:rPr>
              <a:t>Built using standard open-source tools like Python, React, and local AI models. Works smoothly on a standard office laptop or PC.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Easy Offline Deployment: </a:t>
            </a:r>
            <a:r>
              <a:rPr sz="1100">
                <a:solidFill>
                  <a:srgbClr val="141414"/>
                </a:solidFill>
              </a:rPr>
              <a:t>The complete software runs inside Docker containers on local office computers without needing an active internet connection.</a:t>
            </a:r>
          </a:p>
          <a:p>
            <a:br/>
            <a:pPr>
              <a:spcAft>
                <a:spcPts val="400"/>
              </a:spcAft>
              <a:defRPr sz="1400" b="1">
                <a:solidFill>
                  <a:srgbClr val="141414"/>
                </a:solidFill>
                <a:latin typeface="Arial"/>
              </a:defRPr>
            </a:pPr>
            <a:r>
              <a:t>POTENTIAL CHALLENGES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Complex Tables &amp; Charts: </a:t>
            </a:r>
            <a:r>
              <a:rPr sz="1100">
                <a:solidFill>
                  <a:srgbClr val="141414"/>
                </a:solidFill>
              </a:rPr>
              <a:t>Dense multi-column tables in scanned PDFs can be hard to parse accurately.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Processing Speed on Long Files: </a:t>
            </a:r>
            <a:r>
              <a:rPr sz="1100">
                <a:solidFill>
                  <a:srgbClr val="141414"/>
                </a:solidFill>
              </a:rPr>
              <a:t>Converting 100+ page documents requires efficient processing to stay under 10 seconds.</a:t>
            </a:r>
          </a:p>
          <a:p>
            <a:br/>
            <a:pPr>
              <a:spcAft>
                <a:spcPts val="400"/>
              </a:spcAft>
              <a:defRPr sz="1400" b="1">
                <a:solidFill>
                  <a:srgbClr val="141414"/>
                </a:solidFill>
                <a:latin typeface="Arial"/>
              </a:defRPr>
            </a:pPr>
            <a:r>
              <a:t>STRATEGIES TO OVERCOME CHALLENGES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Smart Table Parser: </a:t>
            </a:r>
            <a:r>
              <a:rPr sz="1100">
                <a:solidFill>
                  <a:srgbClr val="141414"/>
                </a:solidFill>
              </a:rPr>
              <a:t>Use layout-aware coordinate parsers (pdfplumber) to keep table rows and numbers intact.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Parallel Page Processing: </a:t>
            </a:r>
            <a:r>
              <a:rPr sz="1100">
                <a:solidFill>
                  <a:srgbClr val="141414"/>
                </a:solidFill>
              </a:rPr>
              <a:t>Split chapters into parallel worker tasks so long reports are summarized in seconds.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188720"/>
            <a:ext cx="3931920" cy="4937760"/>
          </a:xfrm>
          <a:prstGeom prst="roundRect">
            <a:avLst/>
          </a:prstGeom>
          <a:solidFill>
            <a:srgbClr val="F5F8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 r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1B365D"/>
                </a:solidFill>
                <a:latin typeface="Arial"/>
              </a:defRPr>
            </a:pPr>
            <a:r>
              <a:t>KEY FEASIBILITY HIGHLIGHTS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E69138"/>
                </a:solidFill>
                <a:latin typeface="Arial"/>
              </a:rPr>
              <a:t>[+] Low Cost
</a:t>
            </a:r>
            <a:r>
              <a:rPr sz="1100">
                <a:solidFill>
                  <a:srgbClr val="141414"/>
                </a:solidFill>
                <a:latin typeface="Arial"/>
              </a:rPr>
              <a:t>Runs on free open-source models with no recurring software license fees.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E69138"/>
                </a:solidFill>
                <a:latin typeface="Arial"/>
              </a:rPr>
              <a:t>[+] Zero Setup
</a:t>
            </a:r>
            <a:r>
              <a:rPr sz="1100">
                <a:solidFill>
                  <a:srgbClr val="141414"/>
                </a:solidFill>
                <a:latin typeface="Arial"/>
              </a:rPr>
              <a:t>Packaged in Docker for simple 1-click startup on any Windows/Linux machine.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E69138"/>
                </a:solidFill>
                <a:latin typeface="Arial"/>
              </a:rPr>
              <a:t>[+] Complete Privacy
</a:t>
            </a:r>
            <a:r>
              <a:rPr sz="1100">
                <a:solidFill>
                  <a:srgbClr val="141414"/>
                </a:solidFill>
                <a:latin typeface="Arial"/>
              </a:rPr>
              <a:t>No data leaves the office network; 100% safe for official government documents.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E69138"/>
                </a:solidFill>
                <a:latin typeface="Arial"/>
              </a:rPr>
              <a:t>[+] High Accuracy
</a:t>
            </a:r>
            <a:r>
              <a:rPr sz="1100">
                <a:solidFill>
                  <a:srgbClr val="141414"/>
                </a:solidFill>
                <a:latin typeface="Arial"/>
              </a:rPr>
              <a:t>Direct page citations guarantee zero fake or made-up facts in summaries.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1B365D"/>
                </a:solidFill>
                <a:latin typeface="Times New Roman"/>
              </a:defRPr>
            </a:pPr>
            <a:r>
              <a:t>TEAM: HRL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solidFill>
            <a:srgbClr val="E69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Impact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5486400" cy="2194560"/>
          </a:xfrm>
          <a:prstGeom prst="rect">
            <a:avLst/>
          </a:prstGeom>
          <a:solidFill>
            <a:srgbClr val="F5F8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/>
          <a:lstStyle/>
          <a:p>
            <a:pPr algn="ctr"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Saves Analyst Time: </a:t>
            </a:r>
            <a:r>
              <a:rPr sz="1050">
                <a:solidFill>
                  <a:srgbClr val="141414"/>
                </a:solidFill>
              </a:rPr>
              <a:t>Reduces 4 to 6 hours of manual report writing to under 10 seconds.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Faster Decision Making: </a:t>
            </a:r>
            <a:r>
              <a:rPr sz="1050">
                <a:solidFill>
                  <a:srgbClr val="141414"/>
                </a:solidFill>
              </a:rPr>
              <a:t>Officers can quickly read 1-page executive memos during urgent meetings.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Regional Language Reach: </a:t>
            </a:r>
            <a:r>
              <a:rPr sz="1050">
                <a:solidFill>
                  <a:srgbClr val="141414"/>
                </a:solidFill>
              </a:rPr>
              <a:t>Converts central government policies into Hindi, Kannada, and local Indian languages.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931920"/>
            <a:ext cx="5486400" cy="365760"/>
          </a:xfrm>
          <a:prstGeom prst="rect">
            <a:avLst/>
          </a:prstGeom>
          <a:solidFill>
            <a:srgbClr val="E69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Benefits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297680"/>
            <a:ext cx="5486400" cy="1920240"/>
          </a:xfrm>
          <a:prstGeom prst="rect">
            <a:avLst/>
          </a:prstGeom>
          <a:solidFill>
            <a:srgbClr val="F5F8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/>
          <a:lstStyle/>
          <a:p>
            <a:pPr algn="ctr"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Cost Effective: </a:t>
            </a:r>
            <a:r>
              <a:rPr sz="1050">
                <a:solidFill>
                  <a:srgbClr val="141414"/>
                </a:solidFill>
              </a:rPr>
              <a:t>Eliminates high costs of outsourcing presentation design and document translation.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100% Data Privacy: </a:t>
            </a:r>
            <a:r>
              <a:rPr sz="1050">
                <a:solidFill>
                  <a:srgbClr val="141414"/>
                </a:solidFill>
              </a:rPr>
              <a:t>Sensitive government intelligence remains inside local servers without leaks.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Easy Mobile Access: </a:t>
            </a:r>
            <a:r>
              <a:rPr sz="1050">
                <a:solidFill>
                  <a:srgbClr val="141414"/>
                </a:solidFill>
              </a:rPr>
              <a:t>Field staff can listen to 60-second audio summaries on their mobile phones.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365760"/>
          </a:xfrm>
          <a:prstGeom prst="rect">
            <a:avLst/>
          </a:prstGeom>
          <a:solidFill>
            <a:srgbClr val="E69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For Instance: User Story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5303520" cy="4663440"/>
          </a:xfrm>
          <a:prstGeom prst="rect">
            <a:avLst/>
          </a:prstGeom>
          <a:solidFill>
            <a:srgbClr val="F5F8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/>
          <a:lstStyle/>
          <a:p>
            <a:pPr algn="ctr">
              <a:spcAft>
                <a:spcPts val="400"/>
              </a:spcAft>
            </a:pPr>
            <a:r>
              <a:rPr b="1" sz="1050">
                <a:solidFill>
                  <a:srgbClr val="1B365D"/>
                </a:solidFill>
              </a:rPr>
              <a:t>Scenario: </a:t>
            </a:r>
            <a:r>
              <a:rPr sz="1050">
                <a:solidFill>
                  <a:srgbClr val="141414"/>
                </a:solidFill>
              </a:rPr>
              <a:t>Rahul, an intelligence analyst at a government agency, receives a 50-page technical threat report at 9:00 AM. He has to present the key findings to senior officers in a 9:30 AM meeting.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B365D"/>
                </a:solidFill>
              </a:rPr>
              <a:t>Problem: </a:t>
            </a:r>
            <a:r>
              <a:rPr sz="1050">
                <a:solidFill>
                  <a:srgbClr val="141414"/>
                </a:solidFill>
              </a:rPr>
              <a:t>Reading the full 50 pages and manually typing summary slides takes at least 3 hours. Finding the most critical points in a hurry can lead to missing important details.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B365D"/>
                </a:solidFill>
              </a:rPr>
              <a:t>Impact with OmniTransform: </a:t>
            </a:r>
            <a:r>
              <a:rPr sz="1050">
                <a:solidFill>
                  <a:srgbClr val="141414"/>
                </a:solidFill>
              </a:rPr>
              <a:t>Rahul uploads the PDF to OmniTransform. In 10 seconds, the platform gives him: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1-Page Summary Memo </a:t>
            </a:r>
            <a:r>
              <a:rPr sz="1050">
                <a:solidFill>
                  <a:srgbClr val="141414"/>
                </a:solidFill>
              </a:rPr>
              <a:t>Clear bullet points with key highlights and numbers.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5 Presentation Slides </a:t>
            </a:r>
            <a:r>
              <a:rPr sz="1050">
                <a:solidFill>
                  <a:srgbClr val="141414"/>
                </a:solidFill>
              </a:rPr>
              <a:t>Formatted and ready to project in the meeting room.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Clickable Citations </a:t>
            </a:r>
            <a:r>
              <a:rPr sz="1050">
                <a:solidFill>
                  <a:srgbClr val="141414"/>
                </a:solidFill>
              </a:rPr>
              <a:t>Rahul clicks any bullet point to show the exact page in the raw PDF.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B365D"/>
                </a:solidFill>
              </a:rPr>
              <a:t>Benefits: </a:t>
            </a:r>
            <a:r>
              <a:rPr sz="1050">
                <a:solidFill>
                  <a:srgbClr val="141414"/>
                </a:solidFill>
              </a:rPr>
              <a:t>Rahul walks into the 9:30 AM meeting fully prepared with accurate, verified facts. What used to take 3 hours was finished in under 10 seconds.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1B365D"/>
                </a:solidFill>
                <a:latin typeface="Times New Roman"/>
              </a:defRPr>
            </a:pPr>
            <a:r>
              <a:t>TEAM: HRL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400">
                <a:solidFill>
                  <a:srgbClr val="141414"/>
                </a:solidFill>
              </a:rPr>
              <a:t>❖  </a:t>
            </a:r>
            <a:r>
              <a:rPr b="1" sz="1300">
                <a:solidFill>
                  <a:srgbClr val="1B365D"/>
                </a:solidFill>
                <a:latin typeface="Times New Roman"/>
              </a:rPr>
              <a:t>MASTER RESOURCE REPOSITORY &amp; CODE:  </a:t>
            </a:r>
            <a:r>
              <a:rPr u="sng" sz="1200">
                <a:solidFill>
                  <a:srgbClr val="0077C8"/>
                </a:solidFill>
                <a:latin typeface="Arial"/>
              </a:rPr>
              <a:t>https://github.com/hrlpavan/omnitransform-ai-resources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41414"/>
                </a:solidFill>
              </a:rPr>
              <a:t>❖  </a:t>
            </a:r>
            <a:r>
              <a:rPr b="1" sz="1300">
                <a:solidFill>
                  <a:srgbClr val="1B365D"/>
                </a:solidFill>
                <a:latin typeface="Times New Roman"/>
              </a:rPr>
              <a:t>OPEN-SOURCE DATASETS &amp; MODELS GUIDE:  </a:t>
            </a:r>
            <a:r>
              <a:rPr u="sng" sz="1200">
                <a:solidFill>
                  <a:srgbClr val="0077C8"/>
                </a:solidFill>
                <a:latin typeface="Arial"/>
              </a:rPr>
              <a:t>https://github.com/hrlpavan/omnitransform-ai-resources/blob/main/OPEN_SOURCE_RESOURCES_AND_DATASETS.md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41414"/>
                </a:solidFill>
              </a:rPr>
              <a:t>❖  </a:t>
            </a:r>
            <a:r>
              <a:rPr b="1" sz="1300">
                <a:solidFill>
                  <a:srgbClr val="1B365D"/>
                </a:solidFill>
                <a:latin typeface="Times New Roman"/>
              </a:rPr>
              <a:t>TECHNICAL DEVELOPMENT SPECIFICATION:  </a:t>
            </a:r>
            <a:r>
              <a:rPr u="sng" sz="1200">
                <a:solidFill>
                  <a:srgbClr val="0077C8"/>
                </a:solidFill>
                <a:latin typeface="Arial"/>
              </a:rPr>
              <a:t>https://github.com/hrlpavan/omnitransform-ai-resources/blob/main/PROJECT_DEVELOPMENT_SPECIFICATION.md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41414"/>
                </a:solidFill>
              </a:rPr>
              <a:t>❖  </a:t>
            </a:r>
            <a:r>
              <a:rPr b="1" sz="1300">
                <a:solidFill>
                  <a:srgbClr val="1B365D"/>
                </a:solidFill>
                <a:latin typeface="Times New Roman"/>
              </a:rPr>
              <a:t>SMART INDIA HACKATHON 2026 OFFICIAL PORTAL (PS ID 26154):  </a:t>
            </a:r>
            <a:r>
              <a:rPr u="sng" sz="1200">
                <a:solidFill>
                  <a:srgbClr val="0077C8"/>
                </a:solidFill>
                <a:latin typeface="Arial"/>
              </a:rPr>
              <a:t>https://www.sih.gov.in/sih2026PS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41414"/>
                </a:solidFill>
              </a:rPr>
              <a:t>❖  </a:t>
            </a:r>
            <a:r>
              <a:rPr b="1" sz="1300">
                <a:solidFill>
                  <a:srgbClr val="1B365D"/>
                </a:solidFill>
                <a:latin typeface="Times New Roman"/>
              </a:rPr>
              <a:t>NATIONAL TECHNICAL RESEARCH ORGANISATION (NTRO) PORTAL:  </a:t>
            </a:r>
            <a:r>
              <a:rPr u="sng" sz="1200">
                <a:solidFill>
                  <a:srgbClr val="0077C8"/>
                </a:solidFill>
                <a:latin typeface="Arial"/>
              </a:rPr>
              <a:t>https://ntro.gov.in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41414"/>
                </a:solidFill>
              </a:rPr>
              <a:t>❖  </a:t>
            </a:r>
            <a:r>
              <a:rPr b="1" sz="1300">
                <a:solidFill>
                  <a:srgbClr val="1B365D"/>
                </a:solidFill>
                <a:latin typeface="Times New Roman"/>
              </a:rPr>
              <a:t>RESEARCH ON RAG &amp; CITATIONS (LEWIS ET AL. 2020):  </a:t>
            </a:r>
            <a:r>
              <a:rPr u="sng" sz="1200">
                <a:solidFill>
                  <a:srgbClr val="0077C8"/>
                </a:solidFill>
                <a:latin typeface="Arial"/>
              </a:rPr>
              <a:t>https://arxiv.org/abs/2005.11401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