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181E"/>
                </a:solidFill>
                <a:latin typeface="Times New Roman"/>
              </a:defRPr>
            </a:pPr>
            <a:r>
              <a:t>TITLE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132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Problem Statement ID –</a:t>
            </a:r>
            <a:r>
              <a:rPr sz="1400" b="1">
                <a:solidFill>
                  <a:srgbClr val="F37021"/>
                </a:solidFill>
                <a:latin typeface="Times New Roman"/>
              </a:rPr>
              <a:t> 26154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Problem Statement Title –</a:t>
            </a:r>
            <a:r>
              <a:rPr sz="1400" b="1">
                <a:solidFill>
                  <a:srgbClr val="14181E"/>
                </a:solidFill>
                <a:latin typeface="Times New Roman"/>
              </a:rPr>
              <a:t> Gen AI Platform for Automated Content Transformation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Theme –</a:t>
            </a:r>
            <a:r>
              <a:rPr sz="1400" b="0">
                <a:solidFill>
                  <a:srgbClr val="14181E"/>
                </a:solidFill>
                <a:latin typeface="Arial"/>
              </a:rPr>
              <a:t> Blockchain &amp; Cybersecurity / AI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PS Category –</a:t>
            </a:r>
            <a:r>
              <a:rPr sz="1400" b="0">
                <a:solidFill>
                  <a:srgbClr val="14181E"/>
                </a:solidFill>
                <a:latin typeface="Arial"/>
              </a:rPr>
              <a:t> Software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Organization –</a:t>
            </a:r>
            <a:r>
              <a:rPr sz="1400" b="0">
                <a:solidFill>
                  <a:srgbClr val="14181E"/>
                </a:solidFill>
                <a:latin typeface="Arial"/>
              </a:rPr>
              <a:t> National Technical Research Organisation (NTRO)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Team ID –</a:t>
            </a:r>
            <a:r>
              <a:rPr sz="1400" b="0">
                <a:solidFill>
                  <a:srgbClr val="14181E"/>
                </a:solidFill>
                <a:latin typeface="Arial"/>
              </a:rPr>
              <a:t> [Registered Team ID on Portal]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Team Name (Registered on portal) –</a:t>
            </a:r>
            <a:r>
              <a:rPr sz="1400" b="1">
                <a:solidFill>
                  <a:srgbClr val="14181E"/>
                </a:solidFill>
                <a:latin typeface="Times New Roman"/>
              </a:rPr>
              <a:t> OmniTransform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Idea Title –</a:t>
            </a:r>
            <a:r>
              <a:rPr sz="1400" b="1">
                <a:solidFill>
                  <a:srgbClr val="14181E"/>
                </a:solidFill>
                <a:latin typeface="Times New Roman"/>
              </a:rPr>
              <a:t> OmniTransform AI</a:t>
            </a:r>
          </a:p>
        </p:txBody>
      </p:sp>
      <p:pic>
        <p:nvPicPr>
          <p:cNvPr id="5" name="Picture 4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474720" cy="17893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IDEA TITLE: OmniTransform AI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 u="sng">
                <a:solidFill>
                  <a:srgbClr val="1B365D"/>
                </a:solidFill>
                <a:latin typeface="Times New Roman"/>
              </a:defRPr>
            </a:pPr>
            <a:r>
              <a:t>• Proposed Solution (Describe your Idea/Solution/Prototype)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365D"/>
                </a:solidFill>
                <a:latin typeface="Times New Roman"/>
              </a:defRPr>
            </a:pPr>
            <a:r>
              <a:t>• Detailed explanation of the proposed solution</a:t>
            </a:r>
          </a:p>
          <a:p>
            <a:pPr>
              <a:spcAft>
                <a:spcPts val="800"/>
              </a:spcAft>
              <a:defRPr sz="1200">
                <a:solidFill>
                  <a:srgbClr val="14181E"/>
                </a:solidFill>
                <a:latin typeface="Arial"/>
              </a:defRPr>
            </a:pPr>
            <a:r>
              <a:t>Single-pass ingestion of dense 50+ page PDFs, threat advisories, and policy documents.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Generates 5 synchronized assets in under 10 seconds:</a:t>
            </a:r>
          </a:p>
          <a:p>
            <a:pPr>
              <a:spcAft>
                <a:spcPts val="3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1. Executive 1-Page Summary Memo</a:t>
            </a:r>
          </a:p>
          <a:p>
            <a:pPr>
              <a:spcAft>
                <a:spcPts val="3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2. Presentation Slide Deck</a:t>
            </a:r>
          </a:p>
          <a:p>
            <a:pPr>
              <a:spcAft>
                <a:spcPts val="3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3. Visual Infographic Cards</a:t>
            </a:r>
          </a:p>
          <a:p>
            <a:pPr>
              <a:spcAft>
                <a:spcPts val="3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4. Multilingual Press Release</a:t>
            </a:r>
          </a:p>
          <a:p>
            <a:pPr>
              <a:spcAft>
                <a:spcPts val="3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5. 60s Voice Audio Podcast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365D"/>
                </a:solidFill>
                <a:latin typeface="Times New Roman"/>
              </a:defRPr>
            </a:pPr>
            <a:r>
              <a:t>• How it addresses the problem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Eliminates Manual Bottlenecks: </a:t>
            </a:r>
            <a:r>
              <a:rPr sz="1200">
                <a:solidFill>
                  <a:srgbClr val="14181E"/>
                </a:solidFill>
                <a:latin typeface="Arial"/>
              </a:rPr>
              <a:t>Saves 4 to 6 hours daily spent by officers manually restructuring dense technical documents.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Unified Sovereign Platform: </a:t>
            </a:r>
            <a:r>
              <a:rPr sz="1200">
                <a:solidFill>
                  <a:srgbClr val="14181E"/>
                </a:solidFill>
                <a:latin typeface="Arial"/>
              </a:rPr>
              <a:t>Replaces disconnected third-party tools into one integrated local dashboard.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Preserves Tactical Velocity: </a:t>
            </a:r>
            <a:r>
              <a:rPr sz="1200">
                <a:solidFill>
                  <a:srgbClr val="14181E"/>
                </a:solidFill>
                <a:latin typeface="Arial"/>
              </a:rPr>
              <a:t>Delivers immediate intelligence dissemination during critical national security events.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Eliminates Hallucination Risk: </a:t>
            </a:r>
            <a:r>
              <a:rPr sz="1200">
                <a:solidFill>
                  <a:srgbClr val="14181E"/>
                </a:solidFill>
                <a:latin typeface="Arial"/>
              </a:rPr>
              <a:t>Enforces strict RAG boundaries to ensure complete factual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365D"/>
                </a:solidFill>
                <a:latin typeface="Times New Roman"/>
              </a:defRPr>
            </a:pPr>
            <a:r>
              <a:t>• Innovation and uniqueness of the solution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Interactive Source Highlighting: </a:t>
            </a:r>
            <a:r>
              <a:rPr sz="1200">
                <a:solidFill>
                  <a:srgbClr val="14181E"/>
                </a:solidFill>
                <a:latin typeface="Arial"/>
              </a:rPr>
              <a:t>Click any bullet point to open the raw PDF with the exact sentence highlighted.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Multi-Persona Tone Switching: </a:t>
            </a:r>
            <a:r>
              <a:rPr sz="1200">
                <a:solidFill>
                  <a:srgbClr val="14181E"/>
                </a:solidFill>
                <a:latin typeface="Arial"/>
              </a:rPr>
              <a:t>1-click toggle between C-Suite Brief, Citizen Explainer, and Threat Alert.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Air-Gapped Sovereign Security: </a:t>
            </a:r>
            <a:r>
              <a:rPr sz="1200">
                <a:solidFill>
                  <a:srgbClr val="14181E"/>
                </a:solidFill>
                <a:latin typeface="Arial"/>
              </a:rPr>
              <a:t>Runs locally on open-weights (Llama 3/Mistral) without public cloud data leaks.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Deterministic Speed (&lt;10s): </a:t>
            </a:r>
            <a:r>
              <a:rPr sz="1200">
                <a:solidFill>
                  <a:srgbClr val="14181E"/>
                </a:solidFill>
                <a:latin typeface="Arial"/>
              </a:rPr>
              <a:t>High-throughput asynchronous pipeline with zero runtime failures.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 u="sng">
                <a:solidFill>
                  <a:srgbClr val="1B365D"/>
                </a:solidFill>
                <a:latin typeface="Times New Roman"/>
              </a:defRPr>
            </a:pPr>
            <a:r>
              <a:t>• Technologies to be used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Frontend: </a:t>
            </a:r>
            <a:r>
              <a:rPr sz="1100">
                <a:solidFill>
                  <a:srgbClr val="14181E"/>
                </a:solidFill>
                <a:latin typeface="Arial"/>
              </a:rPr>
              <a:t>Next.js 14, React, Tailwind CSS, Lucide Icons, PDF.js viewer.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Backend &amp; Parser: </a:t>
            </a:r>
            <a:r>
              <a:rPr sz="1100">
                <a:solidFill>
                  <a:srgbClr val="14181E"/>
                </a:solidFill>
                <a:latin typeface="Arial"/>
              </a:rPr>
              <a:t>Python FastAPI, PyMuPDF coordinate parser, LangChain.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Foundation AI: </a:t>
            </a:r>
            <a:r>
              <a:rPr sz="1100">
                <a:solidFill>
                  <a:srgbClr val="14181E"/>
                </a:solidFill>
                <a:latin typeface="Arial"/>
              </a:rPr>
              <a:t>Llama 3.3 (70B), Mistral Large, IndicBERT (translation).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Slide/Canvas Engines: </a:t>
            </a:r>
            <a:r>
              <a:rPr sz="1100">
                <a:solidFill>
                  <a:srgbClr val="14181E"/>
                </a:solidFill>
                <a:latin typeface="Arial"/>
              </a:rPr>
              <a:t>Satori HTML-to-Image Canvas, Marp slide compiler, FFmpeg.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Voice AI Pipeline: </a:t>
            </a:r>
            <a:r>
              <a:rPr sz="1100">
                <a:solidFill>
                  <a:srgbClr val="14181E"/>
                </a:solidFill>
                <a:latin typeface="Arial"/>
              </a:rPr>
              <a:t>Piper Neural TTS &amp; ElevenLabs API.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Deployment: </a:t>
            </a:r>
            <a:r>
              <a:rPr sz="1100">
                <a:solidFill>
                  <a:srgbClr val="14181E"/>
                </a:solidFill>
                <a:latin typeface="Arial"/>
              </a:rPr>
              <a:t>Docker containerized, air-gapped Linux host, zero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23444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 u="sng">
                <a:solidFill>
                  <a:srgbClr val="1B365D"/>
                </a:solidFill>
                <a:latin typeface="Times New Roman"/>
              </a:defRPr>
            </a:pPr>
            <a:r>
              <a:t>• Methodology and process for implementation (Flow Chart)</a:t>
            </a:r>
          </a:p>
        </p:txBody>
      </p:sp>
      <p:pic>
        <p:nvPicPr>
          <p:cNvPr id="10" name="Picture 9" descr="omnitransform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737360"/>
            <a:ext cx="6309360" cy="33932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Analysis of the feasibility of the idea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Hardware &amp; Compute Feasibility: </a:t>
            </a:r>
            <a:r>
              <a:rPr sz="1200">
                <a:solidFill>
                  <a:srgbClr val="14181E"/>
                </a:solidFill>
                <a:latin typeface="Arial"/>
              </a:rPr>
              <a:t>Runs efficiently on commodity GPU workstations (e.g. Single RTX 4090 or Apple Silicon) using 4-bit quantized open-weight models.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Speed &amp; Runtime Feasibility: </a:t>
            </a:r>
            <a:r>
              <a:rPr sz="1200">
                <a:solidFill>
                  <a:srgbClr val="14181E"/>
                </a:solidFill>
                <a:latin typeface="Arial"/>
              </a:rPr>
              <a:t>Asynchronous map-reduce pipeline completes multi-format transformation of a 30-page PDF in &lt; 10 seconds.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Operational Deployment Feasibility: </a:t>
            </a:r>
            <a:r>
              <a:rPr sz="1200">
                <a:solidFill>
                  <a:srgbClr val="14181E"/>
                </a:solidFill>
                <a:latin typeface="Arial"/>
              </a:rPr>
              <a:t>100% Dockerized container stack; operates fully air-gapped without external internet dependencies.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Potential challenges and risks &amp; Strategies for overcoming these challenges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37021"/>
                </a:solidFill>
                <a:latin typeface="Arial"/>
              </a:rPr>
              <a:t>1. Risk: AI Hallucinations in Intelligence Briefs | </a:t>
            </a:r>
            <a:r>
              <a:rPr sz="1150">
                <a:solidFill>
                  <a:srgbClr val="14181E"/>
                </a:solidFill>
                <a:latin typeface="Arial"/>
              </a:rPr>
              <a:t>Challenge: Generative models inventing ungrounded facts. </a:t>
            </a:r>
            <a:r>
              <a:rPr b="1" sz="1150">
                <a:solidFill>
                  <a:srgbClr val="1B365D"/>
                </a:solidFill>
                <a:latin typeface="Arial"/>
              </a:rPr>
              <a:t>--&gt; Strategy: Strict RAG constraint boundaries + reverse citation bounding-box coordinate verification for 100% grounded truth.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37021"/>
                </a:solidFill>
                <a:latin typeface="Arial"/>
              </a:rPr>
              <a:t>2. Risk: Classified Data Confidentiality | </a:t>
            </a:r>
            <a:r>
              <a:rPr sz="1150">
                <a:solidFill>
                  <a:srgbClr val="14181E"/>
                </a:solidFill>
                <a:latin typeface="Arial"/>
              </a:rPr>
              <a:t>Challenge: Sensitive intelligence leaked to public cloud APIs. </a:t>
            </a:r>
            <a:r>
              <a:rPr b="1" sz="1150">
                <a:solidFill>
                  <a:srgbClr val="1B365D"/>
                </a:solidFill>
                <a:latin typeface="Arial"/>
              </a:rPr>
              <a:t>--&gt; Strategy: Sovereign on-premise air-gapped deployment with local open-weights (Llama 3/Mistral); zero telemetry.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37021"/>
                </a:solidFill>
                <a:latin typeface="Arial"/>
              </a:rPr>
              <a:t>3. Risk: Complex Multi-Column Tables &amp; Diagram Loss | </a:t>
            </a:r>
            <a:r>
              <a:rPr sz="1150">
                <a:solidFill>
                  <a:srgbClr val="14181E"/>
                </a:solidFill>
                <a:latin typeface="Arial"/>
              </a:rPr>
              <a:t>Challenge: Loss of tabular structure during document parsing. </a:t>
            </a:r>
            <a:r>
              <a:rPr b="1" sz="1150">
                <a:solidFill>
                  <a:srgbClr val="1B365D"/>
                </a:solidFill>
                <a:latin typeface="Arial"/>
              </a:rPr>
              <a:t>--&gt; Strategy: Multimodal vision-language parsing (VLM) + Markdown table structure extraction.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Potential impact on the target audience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Government &amp; Defense Analysts (NTRO/MoD):
  </a:t>
            </a:r>
            <a:r>
              <a:rPr sz="1150">
                <a:solidFill>
                  <a:srgbClr val="14181E"/>
                </a:solidFill>
                <a:latin typeface="Arial"/>
              </a:rPr>
              <a:t>Saves 4-6 hours daily per analyst by instantly synthesizing complex intelligence and security advisories into actionable briefs.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Senior Bureaucrats &amp; C-Suite Executives:
  </a:t>
            </a:r>
            <a:r>
              <a:rPr sz="1150">
                <a:solidFill>
                  <a:srgbClr val="14181E"/>
                </a:solidFill>
                <a:latin typeface="Arial"/>
              </a:rPr>
              <a:t>Enables immediate decision-making via 1-page executive memos and interactive presentation decks.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Public Relations &amp; Media Officers:
  </a:t>
            </a:r>
            <a:r>
              <a:rPr sz="1150">
                <a:solidFill>
                  <a:srgbClr val="14181E"/>
                </a:solidFill>
                <a:latin typeface="Arial"/>
              </a:rPr>
              <a:t>Instant generation of accurate, jargon-free press releases and infographics in multiple regional languages.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Field Personnel &amp; Traveling Officials:
  </a:t>
            </a:r>
            <a:r>
              <a:rPr sz="1150">
                <a:solidFill>
                  <a:srgbClr val="14181E"/>
                </a:solidFill>
                <a:latin typeface="Arial"/>
              </a:rPr>
              <a:t>Delivers 60-second audio podcast briefings directly to mobile devices.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Benefits of the solution (social, economic, environmental, etc.)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Economic Benefits:
  </a:t>
            </a:r>
            <a:r>
              <a:rPr sz="1150">
                <a:solidFill>
                  <a:srgbClr val="14181E"/>
                </a:solidFill>
                <a:latin typeface="Arial"/>
              </a:rPr>
              <a:t>Reduces enterprise document processing costs by 75%; eliminates expensive third-party graphic and presentation outsourcing.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Social &amp; Governance Impact:
  </a:t>
            </a:r>
            <a:r>
              <a:rPr sz="1150">
                <a:solidFill>
                  <a:srgbClr val="14181E"/>
                </a:solidFill>
                <a:latin typeface="Arial"/>
              </a:rPr>
              <a:t>Bridges the communication gap between technical policymakers and general citizens through regional Indic language summaries and visual posters.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National Security Advantage:
  </a:t>
            </a:r>
            <a:r>
              <a:rPr sz="1150">
                <a:solidFill>
                  <a:srgbClr val="14181E"/>
                </a:solidFill>
                <a:latin typeface="Arial"/>
              </a:rPr>
              <a:t>Maintains tactical information advantage during national security events through instant, multi-format threat dissemination.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Environmental Sustainability:
  </a:t>
            </a:r>
            <a:r>
              <a:rPr sz="1150">
                <a:solidFill>
                  <a:srgbClr val="14181E"/>
                </a:solidFill>
                <a:latin typeface="Arial"/>
              </a:rPr>
              <a:t>Drastically cuts down unnecessary paper report printing through interactive digital briefs and mobile voice summaries.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Details / Links of the reference and research work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Lewis et al. (2020):
  </a:t>
            </a:r>
            <a:r>
              <a:rPr sz="1150">
                <a:solidFill>
                  <a:srgbClr val="14181E"/>
                </a:solidFill>
                <a:latin typeface="Arial"/>
              </a:rPr>
              <a:t>Retrieval-Augmented Generation for Knowledge-Intensive NLP Tasks (NeurIPS).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Touvron et al. (2023/2024):
  </a:t>
            </a:r>
            <a:r>
              <a:rPr sz="1150">
                <a:solidFill>
                  <a:srgbClr val="14181E"/>
                </a:solidFill>
                <a:latin typeface="Arial"/>
              </a:rPr>
              <a:t>Llama 3 &amp; Open Foundation Models for Sovereign Enterprise Reasoning.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Vaswani et al. (2017):
  </a:t>
            </a:r>
            <a:r>
              <a:rPr sz="1150">
                <a:solidFill>
                  <a:srgbClr val="14181E"/>
                </a:solidFill>
                <a:latin typeface="Arial"/>
              </a:rPr>
              <a:t>Attention Is All You Need — Transformer Architecture Fundamentals.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AI4Bharat / Bhashini (2023):
  </a:t>
            </a:r>
            <a:r>
              <a:rPr sz="1150">
                <a:solidFill>
                  <a:srgbClr val="14181E"/>
                </a:solidFill>
                <a:latin typeface="Arial"/>
              </a:rPr>
              <a:t>IndicBERT &amp; Multilingual Natural Language Architectures for Indian Languages.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ISO/IEC 27001 &amp; NIST Standards:
  </a:t>
            </a:r>
            <a:r>
              <a:rPr sz="1150">
                <a:solidFill>
                  <a:srgbClr val="14181E"/>
                </a:solidFill>
                <a:latin typeface="Arial"/>
              </a:rPr>
              <a:t>Cybersecurity &amp; Data Protection Frameworks for Air-Gapped Intelligence.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Official Portals &amp; Project Verification Links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SIH 2026 Problem Statement 26154:
  </a:t>
            </a:r>
            <a:r>
              <a:rPr sz="1100">
                <a:solidFill>
                  <a:srgbClr val="0077C8"/>
                </a:solidFill>
                <a:latin typeface="Arial"/>
              </a:rPr>
              <a:t>https://www.sih.gov.in/sih2026PS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NTRO Official Government Portal:
  </a:t>
            </a:r>
            <a:r>
              <a:rPr sz="1100">
                <a:solidFill>
                  <a:srgbClr val="0077C8"/>
                </a:solidFill>
                <a:latin typeface="Arial"/>
              </a:rPr>
              <a:t>https://ntro.gov.in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Live Web Platform &amp; Design System:
  </a:t>
            </a:r>
            <a:r>
              <a:rPr sz="1100">
                <a:solidFill>
                  <a:srgbClr val="0077C8"/>
                </a:solidFill>
                <a:latin typeface="Arial"/>
              </a:rPr>
              <a:t>https://hrl-brand-seo.vercel.app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GitHub Project Repository:
  </a:t>
            </a:r>
            <a:r>
              <a:rPr sz="1100">
                <a:solidFill>
                  <a:srgbClr val="0077C8"/>
                </a:solidFill>
                <a:latin typeface="Arial"/>
              </a:rPr>
              <a:t>https://github.com/hrlpavan/sih-2026-media-problem-statements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Winning Blueprint &amp; Documentation:
  </a:t>
            </a:r>
            <a:r>
              <a:rPr sz="1100">
                <a:solidFill>
                  <a:srgbClr val="0077C8"/>
                </a:solidFill>
                <a:latin typeface="Arial"/>
              </a:rPr>
              <a:t>https://github.com/hrlpavan/sih-2026-media-problem-statements/blob/main/WINNING_STRATEGY_PS26154.md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