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0" y="320040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12529"/>
                </a:solidFill>
                <a:latin typeface="Arial"/>
              </a:defRPr>
            </a:pPr>
            <a:r>
              <a:t>TITLE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1645920"/>
            <a:ext cx="694944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/>
          <a:lstStyle/>
          <a:p>
            <a:pPr algn="ctr"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Problem Statement ID –</a:t>
            </a:r>
            <a:r>
              <a:rPr sz="1200" b="1">
                <a:solidFill>
                  <a:srgbClr val="F37021"/>
                </a:solidFill>
                <a:latin typeface="Arial"/>
              </a:rPr>
              <a:t> 26154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Problem Statement Title –</a:t>
            </a:r>
            <a:r>
              <a:rPr sz="1200" b="1">
                <a:solidFill>
                  <a:srgbClr val="212529"/>
                </a:solidFill>
                <a:latin typeface="Arial"/>
              </a:rPr>
              <a:t> 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Theme –</a:t>
            </a:r>
            <a:r>
              <a:rPr sz="1200" b="0">
                <a:solidFill>
                  <a:srgbClr val="212529"/>
                </a:solidFill>
                <a:latin typeface="Arial"/>
              </a:rPr>
              <a:t> Blockchain &amp; Cybersecurity / AI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PS Category –</a:t>
            </a:r>
            <a:r>
              <a:rPr sz="1200" b="0">
                <a:solidFill>
                  <a:srgbClr val="212529"/>
                </a:solidFill>
                <a:latin typeface="Arial"/>
              </a:rPr>
              <a:t> Software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Organization –</a:t>
            </a:r>
            <a:r>
              <a:rPr sz="1200" b="0">
                <a:solidFill>
                  <a:srgbClr val="212529"/>
                </a:solidFill>
                <a:latin typeface="Arial"/>
              </a:rPr>
              <a:t> National Technical Research Organisation (NTRO)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Team ID –</a:t>
            </a:r>
            <a:r>
              <a:rPr sz="1200" b="0">
                <a:solidFill>
                  <a:srgbClr val="212529"/>
                </a:solidFill>
                <a:latin typeface="Arial"/>
              </a:rPr>
              <a:t> [Registered Team ID]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• Team Name (Registered on portal) –</a:t>
            </a:r>
            <a:r>
              <a:rPr sz="1200" b="1">
                <a:solidFill>
                  <a:srgbClr val="212529"/>
                </a:solidFill>
                <a:latin typeface="Arial"/>
              </a:rPr>
              <a:t> OmniTransform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645920"/>
            <a:ext cx="3383280" cy="45720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365760" rIns="228600"/>
          <a:lstStyle/>
          <a:p>
            <a:pPr algn="ctr">
              <a:spcAft>
                <a:spcPts val="600"/>
              </a:spcAft>
              <a:defRPr sz="1100" b="1">
                <a:solidFill>
                  <a:srgbClr val="F37021"/>
                </a:solidFill>
                <a:latin typeface="Arial"/>
              </a:defRPr>
            </a:pPr>
            <a:r>
              <a:t>PROPOSED SYSTEM</a:t>
            </a:r>
          </a:p>
          <a:p>
            <a:pPr algn="ctr">
              <a:spcAft>
                <a:spcPts val="140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OmniTransform AI</a:t>
            </a:r>
          </a:p>
          <a:p>
            <a:pPr>
              <a:spcAft>
                <a:spcPts val="1200"/>
              </a:spcAft>
              <a:defRPr sz="1050">
                <a:solidFill>
                  <a:srgbClr val="E1EEFF"/>
                </a:solidFill>
                <a:latin typeface="Arial"/>
              </a:defRPr>
            </a:pPr>
            <a:r>
              <a:t>✔ 1-to-5 Synchronized Ingestion Engine</a:t>
            </a:r>
          </a:p>
          <a:p>
            <a:pPr>
              <a:spcAft>
                <a:spcPts val="1200"/>
              </a:spcAft>
              <a:defRPr sz="1050">
                <a:solidFill>
                  <a:srgbClr val="E1EEFF"/>
                </a:solidFill>
                <a:latin typeface="Arial"/>
              </a:defRPr>
            </a:pPr>
            <a:r>
              <a:t>✔ 100% Grounded Source Citations</a:t>
            </a:r>
          </a:p>
          <a:p>
            <a:pPr>
              <a:spcAft>
                <a:spcPts val="1200"/>
              </a:spcAft>
              <a:defRPr sz="1050">
                <a:solidFill>
                  <a:srgbClr val="E1EEFF"/>
                </a:solidFill>
                <a:latin typeface="Arial"/>
              </a:defRPr>
            </a:pPr>
            <a:r>
              <a:t>✔ Air-Gapped Sovereign On-Premise</a:t>
            </a:r>
          </a:p>
          <a:p>
            <a:pPr>
              <a:spcAft>
                <a:spcPts val="1200"/>
              </a:spcAft>
              <a:defRPr sz="1050">
                <a:solidFill>
                  <a:srgbClr val="E1EEFF"/>
                </a:solidFill>
                <a:latin typeface="Arial"/>
              </a:defRPr>
            </a:pPr>
            <a:r>
              <a:t>✔ Live Proof: hrl-brand-seo.vercel.app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32004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212529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114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IDEA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</a:p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HACKATHON</a:t>
            </a:r>
          </a:p>
          <a:p>
            <a:pPr algn="r">
              <a:defRPr sz="1200" b="1">
                <a:solidFill>
                  <a:srgbClr val="F3702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188720"/>
            <a:ext cx="105796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1691640"/>
            <a:ext cx="3337560" cy="4526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Detailed Explanation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Core Function: </a:t>
            </a:r>
            <a:r>
              <a:rPr sz="1000">
                <a:solidFill>
                  <a:srgbClr val="212529"/>
                </a:solidFill>
                <a:latin typeface="Arial"/>
              </a:rPr>
              <a:t> Ingests raw 50+ page PDFs, threat advisories, and policy documents in a single pass.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1-to-5 Transformation: </a:t>
            </a:r>
            <a:r>
              <a:rPr sz="1000">
                <a:solidFill>
                  <a:srgbClr val="212529"/>
                </a:solidFill>
                <a:latin typeface="Arial"/>
              </a:rPr>
              <a:t> Automatically produces 5 tailored communication assets in &lt;10s: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37021"/>
                </a:solidFill>
                <a:latin typeface="Arial"/>
              </a:rPr>
              <a:t>1. </a:t>
            </a:r>
            <a:r>
              <a:rPr sz="1000">
                <a:solidFill>
                  <a:srgbClr val="212529"/>
                </a:solidFill>
                <a:latin typeface="Arial"/>
              </a:rPr>
              <a:t> 📊 Executive 1-Page Summary Memo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37021"/>
                </a:solidFill>
                <a:latin typeface="Arial"/>
              </a:rPr>
              <a:t>2. </a:t>
            </a:r>
            <a:r>
              <a:rPr sz="1000">
                <a:solidFill>
                  <a:srgbClr val="212529"/>
                </a:solidFill>
                <a:latin typeface="Arial"/>
              </a:rPr>
              <a:t> 🖥️ Meeting-Ready Slide Deck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37021"/>
                </a:solidFill>
                <a:latin typeface="Arial"/>
              </a:rPr>
              <a:t>3. </a:t>
            </a:r>
            <a:r>
              <a:rPr sz="1000">
                <a:solidFill>
                  <a:srgbClr val="212529"/>
                </a:solidFill>
                <a:latin typeface="Arial"/>
              </a:rPr>
              <a:t> 🎨 Public Visual Infographic Cards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37021"/>
                </a:solidFill>
                <a:latin typeface="Arial"/>
              </a:rPr>
              <a:t>4. </a:t>
            </a:r>
            <a:r>
              <a:rPr sz="1000">
                <a:solidFill>
                  <a:srgbClr val="212529"/>
                </a:solidFill>
                <a:latin typeface="Arial"/>
              </a:rPr>
              <a:t> 📰 Regional Multilingual Press Release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37021"/>
                </a:solidFill>
                <a:latin typeface="Arial"/>
              </a:rPr>
              <a:t>5. </a:t>
            </a:r>
            <a:r>
              <a:rPr sz="1000">
                <a:solidFill>
                  <a:srgbClr val="212529"/>
                </a:solidFill>
                <a:latin typeface="Arial"/>
              </a:rPr>
              <a:t> 🎙️ 60s Voice AI Audio Briefing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691640"/>
            <a:ext cx="3337560" cy="4526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How It Addresses Problem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Eliminates Manual Bottleneck: </a:t>
            </a:r>
            <a:r>
              <a:rPr sz="1000">
                <a:solidFill>
                  <a:srgbClr val="212529"/>
                </a:solidFill>
                <a:latin typeface="Arial"/>
              </a:rPr>
              <a:t> Saves 4-6 hours daily spent by officers rewriting dense reports for leadership and public channels.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Unified Sovereign Dashboard: </a:t>
            </a:r>
            <a:r>
              <a:rPr sz="1000">
                <a:solidFill>
                  <a:srgbClr val="212529"/>
                </a:solidFill>
                <a:latin typeface="Arial"/>
              </a:rPr>
              <a:t> Replaces disconnected tools (Canva, Word, PPT, Chatbots) into one unified system.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Prevents Tactical Delay: </a:t>
            </a:r>
            <a:r>
              <a:rPr sz="1000">
                <a:solidFill>
                  <a:srgbClr val="212529"/>
                </a:solidFill>
                <a:latin typeface="Arial"/>
              </a:rPr>
              <a:t> Delivers instant threat intelligence dissemination for time-critical defense scenarios.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Eliminates Hallucinations: </a:t>
            </a:r>
            <a:r>
              <a:rPr sz="1000">
                <a:solidFill>
                  <a:srgbClr val="212529"/>
                </a:solidFill>
                <a:latin typeface="Arial"/>
              </a:rPr>
              <a:t> Strict RAG boundaries guarantee outputs are 100% faithful to the source document.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37560" cy="4526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Innovation &amp; Uniqueness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Interactive Source Highlighting: </a:t>
            </a:r>
            <a:r>
              <a:rPr sz="1000">
                <a:solidFill>
                  <a:srgbClr val="212529"/>
                </a:solidFill>
                <a:latin typeface="Arial"/>
              </a:rPr>
              <a:t> Click any bullet point to open the PDF with exact sentence coordinates highlighted.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Dynamic Multi-Persona Switching: </a:t>
            </a:r>
            <a:r>
              <a:rPr sz="1000">
                <a:solidFill>
                  <a:srgbClr val="212529"/>
                </a:solidFill>
                <a:latin typeface="Arial"/>
              </a:rPr>
              <a:t> 1-click toggle between C-Suite Brief, Citizen Explainer, and Threat Alert.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Air-Gapped Sovereign Security: </a:t>
            </a:r>
            <a:r>
              <a:rPr sz="1000">
                <a:solidFill>
                  <a:srgbClr val="212529"/>
                </a:solidFill>
                <a:latin typeface="Arial"/>
              </a:rPr>
              <a:t> Operates entirely offline on open-weights (Llama 3/Mistral) with zero cloud telemetry.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Apple Design Standard: </a:t>
            </a:r>
            <a:r>
              <a:rPr sz="1000">
                <a:solidFill>
                  <a:srgbClr val="212529"/>
                </a:solidFill>
                <a:latin typeface="Arial"/>
              </a:rPr>
              <a:t> High-contrast glassmorphism UI engineered for high readability and fast decision-making.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32004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212529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114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</a:p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HACKATHON</a:t>
            </a:r>
          </a:p>
          <a:p>
            <a:pPr algn="r">
              <a:defRPr sz="1200" b="1">
                <a:solidFill>
                  <a:srgbClr val="F3702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325880"/>
            <a:ext cx="42976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Technologies to be used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Frontend: </a:t>
            </a:r>
            <a:r>
              <a:rPr sz="950">
                <a:solidFill>
                  <a:srgbClr val="212529"/>
                </a:solidFill>
                <a:latin typeface="Arial"/>
              </a:rPr>
              <a:t>Next.js 14, React, Tailwind CSS, Lucide Icons, PDF.js canvas viewer.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Backend &amp; Parser: </a:t>
            </a:r>
            <a:r>
              <a:rPr sz="950">
                <a:solidFill>
                  <a:srgbClr val="212529"/>
                </a:solidFill>
                <a:latin typeface="Arial"/>
              </a:rPr>
              <a:t>Python FastAPI, PyMuPDF spatial coordinate extractor, LangChain / LlamaIndex.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AI / Foundation LLMs: </a:t>
            </a:r>
            <a:r>
              <a:rPr sz="950">
                <a:solidFill>
                  <a:srgbClr val="212529"/>
                </a:solidFill>
                <a:latin typeface="Arial"/>
              </a:rPr>
              <a:t>Llama 3.3 (70B), Mistral Large, IndicBERT for regional translation.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Slide &amp; Canvas Renderers: </a:t>
            </a:r>
            <a:r>
              <a:rPr sz="950">
                <a:solidFill>
                  <a:srgbClr val="212529"/>
                </a:solidFill>
                <a:latin typeface="Arial"/>
              </a:rPr>
              <a:t>Satori HTML-to-Image Canvas API, Marp slide compiler, FFmpeg.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Voice AI Engine: </a:t>
            </a:r>
            <a:r>
              <a:rPr sz="950">
                <a:solidFill>
                  <a:srgbClr val="212529"/>
                </a:solidFill>
                <a:latin typeface="Arial"/>
              </a:rPr>
              <a:t>Piper Neural TTS &amp; ElevenLabs API.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Infrastructure: </a:t>
            </a:r>
            <a:r>
              <a:rPr sz="950">
                <a:solidFill>
                  <a:srgbClr val="212529"/>
                </a:solidFill>
                <a:latin typeface="Arial"/>
              </a:rPr>
              <a:t>Docker containerized, air-gapped on-premise Linux host, zero telemetry.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325880"/>
            <a:ext cx="60350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Methodology &amp; Implementation Process Flow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Step 1: Ingestion &amp; Spatial Tagging: </a:t>
            </a:r>
            <a:r>
              <a:rPr sz="950">
                <a:solidFill>
                  <a:srgbClr val="212529"/>
                </a:solidFill>
                <a:latin typeface="Arial"/>
              </a:rPr>
              <a:t>PyMuPDF parses raw PDF/DOCX, tagging text blocks, tables, and diagrams with exact coordinate bounding boxes.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Step 2: Hierarchical Chunking &amp; RAG: </a:t>
            </a:r>
            <a:r>
              <a:rPr sz="950">
                <a:solidFill>
                  <a:srgbClr val="212529"/>
                </a:solidFill>
                <a:latin typeface="Arial"/>
              </a:rPr>
              <a:t>Contextual embeddings are indexed into an in-memory vector store (FAISS/Qdrant) enforcing strict citation boundaries.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Step 3: Multi-Persona Orchestration: </a:t>
            </a:r>
            <a:r>
              <a:rPr sz="950">
                <a:solidFill>
                  <a:srgbClr val="212529"/>
                </a:solidFill>
                <a:latin typeface="Arial"/>
              </a:rPr>
              <a:t>Constrained JSON Schema prompts instruct the LLM to extract key insights, slide structures, and press summaries.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Step 4: Parallel Synthesis Engines: </a:t>
            </a:r>
            <a:r>
              <a:rPr sz="950">
                <a:solidFill>
                  <a:srgbClr val="212529"/>
                </a:solidFill>
                <a:latin typeface="Arial"/>
              </a:rPr>
              <a:t>Simultaneously compiles HTML5 presentation slides, auto-renders visual cards (Canvas API), and synthesizes neural audio.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Step 5: Interactive Verification UI: </a:t>
            </a:r>
            <a:r>
              <a:rPr sz="950">
                <a:solidFill>
                  <a:srgbClr val="212529"/>
                </a:solidFill>
                <a:latin typeface="Arial"/>
              </a:rPr>
              <a:t>Delivers a live dashboard with side-by-side asset previews and clickable citation coordinates directly linking to the source PDF.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32004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212529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114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</a:p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HACKATHON</a:t>
            </a:r>
          </a:p>
          <a:p>
            <a:pPr algn="r">
              <a:defRPr sz="1200" b="1">
                <a:solidFill>
                  <a:srgbClr val="F3702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280160"/>
            <a:ext cx="10579608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spcAft>
                <a:spcPts val="6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Analysis of the feasibility of the idea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Hardware Feasibility: </a:t>
            </a:r>
            <a:r>
              <a:rPr sz="1000">
                <a:solidFill>
                  <a:srgbClr val="212529"/>
                </a:solidFill>
                <a:latin typeface="Arial"/>
              </a:rPr>
              <a:t> Runs efficiently on commodity GPU workstations (e.g. Single RTX 4090 or Apple Silicon) using 4-bit quantized open-weight models.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Speed &amp; Throughput: </a:t>
            </a:r>
            <a:r>
              <a:rPr sz="1000">
                <a:solidFill>
                  <a:srgbClr val="212529"/>
                </a:solidFill>
                <a:latin typeface="Arial"/>
              </a:rPr>
              <a:t> Asynchronous map-reduce pipeline completes multi-format transformation of a 30-page PDF in &lt; 10 seconds.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Operational Feasibility: </a:t>
            </a:r>
            <a:r>
              <a:rPr sz="1000">
                <a:solidFill>
                  <a:srgbClr val="212529"/>
                </a:solidFill>
                <a:latin typeface="Arial"/>
              </a:rPr>
              <a:t> 100% Dockerized container stack; operates fully air-gapped without external internet dependencies.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3474720"/>
            <a:ext cx="333756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150" b="1">
                <a:solidFill>
                  <a:srgbClr val="F37021"/>
                </a:solidFill>
                <a:latin typeface="Arial"/>
              </a:defRPr>
            </a:pPr>
            <a:r>
              <a:t>Potential Risk: AI Hallucination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• Risk: Generative models inventing ungrounded facts in security briefs.</a:t>
            </a:r>
          </a:p>
          <a:p>
            <a:pPr>
              <a:defRPr sz="950" b="1">
                <a:solidFill>
                  <a:srgbClr val="1B365D"/>
                </a:solidFill>
                <a:latin typeface="Arial"/>
              </a:defRPr>
            </a:pPr>
            <a:r>
              <a:t>• Mitigation Strategy: Strict RAG constraint boundaries + reverse citation bounding-box verification for 100% grounded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3474720"/>
            <a:ext cx="333756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150" b="1">
                <a:solidFill>
                  <a:srgbClr val="F37021"/>
                </a:solidFill>
                <a:latin typeface="Arial"/>
              </a:defRPr>
            </a:pPr>
            <a:r>
              <a:t>Potential Risk: Data Security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• Risk: Sensitive intelligence leaked to public cloud APIs.</a:t>
            </a:r>
          </a:p>
          <a:p>
            <a:pPr>
              <a:defRPr sz="950" b="1">
                <a:solidFill>
                  <a:srgbClr val="1B365D"/>
                </a:solidFill>
                <a:latin typeface="Arial"/>
              </a:defRPr>
            </a:pPr>
            <a:r>
              <a:t>• Mitigation Strategy: Sovereign on-premise air-gapped deployment with local open-weights (Llama 3/Mistral); zero telemetry.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37560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150" b="1">
                <a:solidFill>
                  <a:srgbClr val="F37021"/>
                </a:solidFill>
                <a:latin typeface="Arial"/>
              </a:defRPr>
            </a:pPr>
            <a:r>
              <a:t>Potential Risk: Complex Tables/Charts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• Risk: Loss of tabular structure and diagram metrics during parsing.</a:t>
            </a:r>
          </a:p>
          <a:p>
            <a:pPr>
              <a:defRPr sz="950" b="1">
                <a:solidFill>
                  <a:srgbClr val="1B365D"/>
                </a:solidFill>
                <a:latin typeface="Arial"/>
              </a:defRPr>
            </a:pPr>
            <a:r>
              <a:t>• Mitigation Strategy: Multimodal vision-language parsing (VLM) + Markdown table structure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32004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212529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114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</a:p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HACKATHON</a:t>
            </a:r>
          </a:p>
          <a:p>
            <a:pPr algn="r">
              <a:defRPr sz="1200" b="1">
                <a:solidFill>
                  <a:srgbClr val="F3702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280160"/>
            <a:ext cx="5148072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Potential impact on the target audience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Government &amp; Defense Analysts (NTRO/MoD): </a:t>
            </a:r>
            <a:r>
              <a:rPr sz="950">
                <a:solidFill>
                  <a:srgbClr val="212529"/>
                </a:solidFill>
                <a:latin typeface="Arial"/>
              </a:rPr>
              <a:t> Saves 4-6 hours daily per analyst by instantly synthesizing complex intelligence and security advisories into actionable briefs.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Senior Bureaucrats &amp; C-Suite Executives: </a:t>
            </a:r>
            <a:r>
              <a:rPr sz="950">
                <a:solidFill>
                  <a:srgbClr val="212529"/>
                </a:solidFill>
                <a:latin typeface="Arial"/>
              </a:rPr>
              <a:t> Enables immediate decision-making via 1-page executive memos and interactive Keynote presentation decks.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Public Relations &amp; Media Officers: </a:t>
            </a:r>
            <a:r>
              <a:rPr sz="950">
                <a:solidFill>
                  <a:srgbClr val="212529"/>
                </a:solidFill>
                <a:latin typeface="Arial"/>
              </a:rPr>
              <a:t> Instant generation of accurate, jargon-free press releases and infographics in multiple regional languages.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Field Personnel &amp; Traveling Officials: </a:t>
            </a:r>
            <a:r>
              <a:rPr sz="950">
                <a:solidFill>
                  <a:srgbClr val="212529"/>
                </a:solidFill>
                <a:latin typeface="Arial"/>
              </a:rPr>
              <a:t> Delivers 60-second audio podcast briefings directly to mobile devices.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280160"/>
            <a:ext cx="5148072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Benefits of the solution (social, economic, etc.)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💰 Economic Benefits: </a:t>
            </a:r>
            <a:r>
              <a:rPr sz="950">
                <a:solidFill>
                  <a:srgbClr val="212529"/>
                </a:solidFill>
                <a:latin typeface="Arial"/>
              </a:rPr>
              <a:t> Reduces enterprise document processing costs by 75%; eliminates expensive third-party graphic and presentation outsourcing.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🤝 Social &amp; Governance Impact: </a:t>
            </a:r>
            <a:r>
              <a:rPr sz="950">
                <a:solidFill>
                  <a:srgbClr val="212529"/>
                </a:solidFill>
                <a:latin typeface="Arial"/>
              </a:rPr>
              <a:t> Bridges the communication gap between technical policymakers and citizens through regional Indic language summaries and visual posters.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🛡️ National Security Advantage: </a:t>
            </a:r>
            <a:r>
              <a:rPr sz="950">
                <a:solidFill>
                  <a:srgbClr val="212529"/>
                </a:solidFill>
                <a:latin typeface="Arial"/>
              </a:rPr>
              <a:t> Maintains tactical information advantage during national security events through instant, multi-format threat dissemination.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🌱 Environmental Sustainability: </a:t>
            </a:r>
            <a:r>
              <a:rPr sz="950">
                <a:solidFill>
                  <a:srgbClr val="212529"/>
                </a:solidFill>
                <a:latin typeface="Arial"/>
              </a:rPr>
              <a:t> Cuts down unnecessary paper report printing through interactive digital briefs and mobile voice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32004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212529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114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SMART INDIA</a:t>
            </a:r>
          </a:p>
          <a:p>
            <a:pPr algn="r">
              <a:defRPr sz="1000" b="1">
                <a:solidFill>
                  <a:srgbClr val="1B365D"/>
                </a:solidFill>
                <a:latin typeface="Arial"/>
              </a:defRPr>
            </a:pPr>
            <a:r>
              <a:t>HACKATHON</a:t>
            </a:r>
          </a:p>
          <a:p>
            <a:pPr algn="r">
              <a:defRPr sz="1200" b="1">
                <a:solidFill>
                  <a:srgbClr val="F3702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280160"/>
            <a:ext cx="5148072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Details / Links of reference &amp; research work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Lewis et al. (2020): </a:t>
            </a:r>
            <a:r>
              <a:rPr sz="950">
                <a:solidFill>
                  <a:srgbClr val="212529"/>
                </a:solidFill>
                <a:latin typeface="Arial"/>
              </a:rPr>
              <a:t>Retrieval-Augmented Generation for Knowledge-Intensive NLP Tasks (NeurIPS).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Touvron et al. (2023/2024): </a:t>
            </a:r>
            <a:r>
              <a:rPr sz="950">
                <a:solidFill>
                  <a:srgbClr val="212529"/>
                </a:solidFill>
                <a:latin typeface="Arial"/>
              </a:rPr>
              <a:t>Llama 3 &amp; Open Foundation Models for Sovereign Enterprise Reasoning.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Vaswani et al. (2017): </a:t>
            </a:r>
            <a:r>
              <a:rPr sz="950">
                <a:solidFill>
                  <a:srgbClr val="212529"/>
                </a:solidFill>
                <a:latin typeface="Arial"/>
              </a:rPr>
              <a:t>Attention Is All You Need — Transformer Architecture Fundamentals.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AI4Bharat / Bhashini (2023): </a:t>
            </a:r>
            <a:r>
              <a:rPr sz="950">
                <a:solidFill>
                  <a:srgbClr val="212529"/>
                </a:solidFill>
                <a:latin typeface="Arial"/>
              </a:rPr>
              <a:t>IndicBERT &amp; Multilingual Natural Language Architectures for Indian Languages.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ISO/IEC 27001 &amp; NIST Standards: </a:t>
            </a:r>
            <a:r>
              <a:rPr sz="950">
                <a:solidFill>
                  <a:srgbClr val="212529"/>
                </a:solidFill>
                <a:latin typeface="Arial"/>
              </a:rPr>
              <a:t>Cybersecurity &amp; Data Protection Frameworks for Air-Gapped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280160"/>
            <a:ext cx="5148072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1000"/>
              </a:spcAft>
              <a:defRPr sz="1550" b="1" u="sng">
                <a:solidFill>
                  <a:srgbClr val="1B365D"/>
                </a:solidFill>
                <a:latin typeface="Arial"/>
              </a:defRPr>
            </a:pPr>
            <a:r>
              <a:t>• Official Portals &amp; Project Verification Links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SIH 2026 Problem Statement 26154:
  </a:t>
            </a:r>
            <a:r>
              <a:rPr sz="95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NTRO Official Government Portal:
  </a:t>
            </a:r>
            <a:r>
              <a:rPr sz="95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Live Web Platform &amp; Design System:
  </a:t>
            </a:r>
            <a:r>
              <a:rPr sz="95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GitHub Project Repository:
  </a:t>
            </a:r>
            <a:r>
              <a:rPr sz="95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B365D"/>
                </a:solidFill>
                <a:latin typeface="Arial"/>
              </a:rPr>
              <a:t>• Winning Blueprint &amp; Documentation:
  </a:t>
            </a:r>
            <a:r>
              <a:rPr sz="950">
                <a:solidFill>
                  <a:srgbClr val="0077C8"/>
                </a:solidFill>
                <a:latin typeface="Arial"/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