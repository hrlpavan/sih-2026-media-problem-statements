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h_header_bann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74320"/>
            <a:ext cx="4480560" cy="59167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2004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65D"/>
                </a:solidFill>
                <a:latin typeface="Arial"/>
              </a:defRPr>
            </a:pPr>
            <a:r>
              <a:t>SMART INDIA HACKATHON 2026</a:t>
            </a:r>
          </a:p>
          <a:p>
            <a:pPr>
              <a:defRPr sz="1800" b="1">
                <a:solidFill>
                  <a:srgbClr val="F37021"/>
                </a:solidFill>
                <a:latin typeface="Arial"/>
              </a:defRPr>
            </a:pPr>
            <a:r>
              <a:t>TITLE PAGE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7132320" cy="4663440"/>
          </a:xfrm>
          <a:prstGeom prst="roundRect">
            <a:avLst/>
          </a:prstGeom>
          <a:solidFill>
            <a:srgbClr val="FAFCFF"/>
          </a:solidFill>
          <a:ln w="19050"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320040" rIns="320040"/>
          <a:lstStyle/>
          <a:p>
            <a:pPr algn="ctr">
              <a:spcAft>
                <a:spcPts val="1200"/>
              </a:spcAft>
            </a:pPr>
            <a:r>
              <a:rPr b="1" sz="1300">
                <a:solidFill>
                  <a:srgbClr val="1B365D"/>
                </a:solidFill>
                <a:latin typeface="Arial"/>
              </a:rPr>
              <a:t>• Problem Statement ID –</a:t>
            </a:r>
            <a:r>
              <a:rPr sz="1300" b="1">
                <a:solidFill>
                  <a:srgbClr val="F37021"/>
                </a:solidFill>
                <a:latin typeface="Arial"/>
              </a:rPr>
              <a:t> 26154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1B365D"/>
                </a:solidFill>
                <a:latin typeface="Arial"/>
              </a:rPr>
              <a:t>• Problem Statement Title –</a:t>
            </a:r>
            <a:r>
              <a:rPr sz="1300" b="1">
                <a:solidFill>
                  <a:srgbClr val="191E24"/>
                </a:solidFill>
                <a:latin typeface="Arial"/>
              </a:rPr>
              <a:t> Gen AI Platform for Automated Content Transformation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1B365D"/>
                </a:solidFill>
                <a:latin typeface="Arial"/>
              </a:rPr>
              <a:t>• Theme –</a:t>
            </a:r>
            <a:r>
              <a:rPr sz="1300" b="0">
                <a:solidFill>
                  <a:srgbClr val="191E24"/>
                </a:solidFill>
                <a:latin typeface="Arial"/>
              </a:rPr>
              <a:t> Blockchain &amp; Cybersecurity / Artificial Intelligence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1B365D"/>
                </a:solidFill>
                <a:latin typeface="Arial"/>
              </a:rPr>
              <a:t>• PS Category –</a:t>
            </a:r>
            <a:r>
              <a:rPr sz="1300" b="0">
                <a:solidFill>
                  <a:srgbClr val="191E24"/>
                </a:solidFill>
                <a:latin typeface="Arial"/>
              </a:rPr>
              <a:t> Software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1B365D"/>
                </a:solidFill>
                <a:latin typeface="Arial"/>
              </a:rPr>
              <a:t>• Organization –</a:t>
            </a:r>
            <a:r>
              <a:rPr sz="1300" b="0">
                <a:solidFill>
                  <a:srgbClr val="191E24"/>
                </a:solidFill>
                <a:latin typeface="Arial"/>
              </a:rPr>
              <a:t> National Technical Research Organisation (NTRO)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1B365D"/>
                </a:solidFill>
                <a:latin typeface="Arial"/>
              </a:rPr>
              <a:t>• Team ID –</a:t>
            </a:r>
            <a:r>
              <a:rPr sz="1300" b="0">
                <a:solidFill>
                  <a:srgbClr val="191E24"/>
                </a:solidFill>
                <a:latin typeface="Arial"/>
              </a:rPr>
              <a:t> [Registered Team ID on SIH Portal]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1B365D"/>
                </a:solidFill>
                <a:latin typeface="Arial"/>
              </a:rPr>
              <a:t>• Team Name (Registered on portal) –</a:t>
            </a:r>
            <a:r>
              <a:rPr sz="1300" b="1">
                <a:solidFill>
                  <a:srgbClr val="191E24"/>
                </a:solidFill>
                <a:latin typeface="Arial"/>
              </a:rPr>
              <a:t> OmniTransform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463040"/>
            <a:ext cx="3383280" cy="4663440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365760" rIns="274320"/>
          <a:lstStyle/>
          <a:p>
            <a:pPr algn="ctr">
              <a:spcAft>
                <a:spcPts val="800"/>
              </a:spcAft>
              <a:defRPr sz="1200" b="1">
                <a:solidFill>
                  <a:srgbClr val="F37021"/>
                </a:solidFill>
                <a:latin typeface="Arial"/>
              </a:defRPr>
            </a:pPr>
            <a:r>
              <a:t>PROPOSED SOLUTION</a:t>
            </a:r>
          </a:p>
          <a:p>
            <a:pPr algn="ctr">
              <a:spcAft>
                <a:spcPts val="16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OmniTransform AI</a:t>
            </a:r>
          </a:p>
          <a:p>
            <a:pPr>
              <a:spcAft>
                <a:spcPts val="1400"/>
              </a:spcAft>
              <a:defRPr sz="1150">
                <a:solidFill>
                  <a:srgbClr val="E6F0FF"/>
                </a:solidFill>
                <a:latin typeface="Arial"/>
              </a:defRPr>
            </a:pPr>
            <a:r>
              <a:t>[+] Single-Pass 1-to-5 Synchronized Output</a:t>
            </a:r>
          </a:p>
          <a:p>
            <a:pPr>
              <a:spcAft>
                <a:spcPts val="1400"/>
              </a:spcAft>
              <a:defRPr sz="1150">
                <a:solidFill>
                  <a:srgbClr val="E6F0FF"/>
                </a:solidFill>
                <a:latin typeface="Arial"/>
              </a:defRPr>
            </a:pPr>
            <a:r>
              <a:t>[+] 100% Grounded Source Citations</a:t>
            </a:r>
          </a:p>
          <a:p>
            <a:pPr>
              <a:spcAft>
                <a:spcPts val="1400"/>
              </a:spcAft>
              <a:defRPr sz="1150">
                <a:solidFill>
                  <a:srgbClr val="E6F0FF"/>
                </a:solidFill>
                <a:latin typeface="Arial"/>
              </a:defRPr>
            </a:pPr>
            <a:r>
              <a:t>[+] Sovereign Air-Gapped Compliance</a:t>
            </a:r>
          </a:p>
          <a:p>
            <a:pPr>
              <a:spcAft>
                <a:spcPts val="1400"/>
              </a:spcAft>
              <a:defRPr sz="1150">
                <a:solidFill>
                  <a:srgbClr val="E6F0FF"/>
                </a:solidFill>
                <a:latin typeface="Arial"/>
              </a:defRPr>
            </a:pPr>
            <a:r>
              <a:t>[+] Production Ecosystem: hrl-brand-seo.vercel.app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228600"/>
            <a:ext cx="169164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191E24"/>
                </a:solidFill>
                <a:latin typeface="Arial"/>
              </a:defRPr>
            </a:pPr>
            <a:r>
              <a:t>Team Name</a:t>
            </a:r>
          </a:p>
          <a:p>
            <a:pPr algn="ctr">
              <a:defRPr sz="115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77440" y="32004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B365D"/>
                </a:solidFill>
                <a:latin typeface="Arial"/>
              </a:defRPr>
            </a:pPr>
            <a:r>
              <a:t>IDEA TITLE: OmniTransform AI</a:t>
            </a:r>
          </a:p>
        </p:txBody>
      </p:sp>
      <p:pic>
        <p:nvPicPr>
          <p:cNvPr id="4" name="Picture 3" descr="sih_header_bann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28600"/>
            <a:ext cx="3886200" cy="5131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 u="sng">
                <a:solidFill>
                  <a:srgbClr val="1B365D"/>
                </a:solidFill>
                <a:latin typeface="Arial"/>
              </a:defRPr>
            </a:pPr>
            <a:r>
              <a:t>• Proposed Solution (Describe your Idea/Solution/Prototype)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37360"/>
            <a:ext cx="3337560" cy="4480560"/>
          </a:xfrm>
          <a:prstGeom prst="roundRect">
            <a:avLst/>
          </a:prstGeom>
          <a:solidFill>
            <a:srgbClr val="FAFCFF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201168" rIns="201168"/>
          <a:lstStyle/>
          <a:p>
            <a:pPr algn="ctr">
              <a:spcAft>
                <a:spcPts val="1000"/>
              </a:spcAft>
              <a:defRPr sz="1400" b="1">
                <a:solidFill>
                  <a:srgbClr val="1B365D"/>
                </a:solidFill>
                <a:latin typeface="Arial"/>
              </a:defRPr>
            </a:pPr>
            <a:r>
              <a:t>Detailed Explanation</a:t>
            </a:r>
          </a:p>
          <a:p>
            <a:pPr>
              <a:spcAft>
                <a:spcPts val="800"/>
              </a:spcAft>
              <a:defRPr sz="1200">
                <a:solidFill>
                  <a:srgbClr val="191E24"/>
                </a:solidFill>
                <a:latin typeface="Arial"/>
              </a:defRPr>
            </a:pPr>
            <a:r>
              <a:t>• Ingests 50+ page PDFs, threat advisories, and policy whitepapers in a single pass.</a:t>
            </a:r>
          </a:p>
          <a:p>
            <a:pPr>
              <a:spcAft>
                <a:spcPts val="6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• Automatically generates 5 synchronized communication assets in &lt;10s:</a:t>
            </a:r>
          </a:p>
          <a:p>
            <a:pPr>
              <a:spcAft>
                <a:spcPts val="400"/>
              </a:spcAft>
              <a:defRPr sz="1150">
                <a:solidFill>
                  <a:srgbClr val="191E24"/>
                </a:solidFill>
                <a:latin typeface="Arial"/>
              </a:defRPr>
            </a:pPr>
            <a:r>
              <a:t>   - 1. Executive 1-Page Summary Brief</a:t>
            </a:r>
          </a:p>
          <a:p>
            <a:pPr>
              <a:spcAft>
                <a:spcPts val="400"/>
              </a:spcAft>
              <a:defRPr sz="1150">
                <a:solidFill>
                  <a:srgbClr val="191E24"/>
                </a:solidFill>
                <a:latin typeface="Arial"/>
              </a:defRPr>
            </a:pPr>
            <a:r>
              <a:t>   - 2. Presentation Slide Deck</a:t>
            </a:r>
          </a:p>
          <a:p>
            <a:pPr>
              <a:spcAft>
                <a:spcPts val="400"/>
              </a:spcAft>
              <a:defRPr sz="1150">
                <a:solidFill>
                  <a:srgbClr val="191E24"/>
                </a:solidFill>
                <a:latin typeface="Arial"/>
              </a:defRPr>
            </a:pPr>
            <a:r>
              <a:t>   - 3. Visual Infographic Cards</a:t>
            </a:r>
          </a:p>
          <a:p>
            <a:pPr>
              <a:spcAft>
                <a:spcPts val="400"/>
              </a:spcAft>
              <a:defRPr sz="1150">
                <a:solidFill>
                  <a:srgbClr val="191E24"/>
                </a:solidFill>
                <a:latin typeface="Arial"/>
              </a:defRPr>
            </a:pPr>
            <a:r>
              <a:t>   - 4. Multilingual Press Release</a:t>
            </a:r>
          </a:p>
          <a:p>
            <a:pPr>
              <a:spcAft>
                <a:spcPts val="400"/>
              </a:spcAft>
              <a:defRPr sz="1150">
                <a:solidFill>
                  <a:srgbClr val="191E24"/>
                </a:solidFill>
                <a:latin typeface="Arial"/>
              </a:defRPr>
            </a:pPr>
            <a:r>
              <a:t>   - 5. 60s Voice Audio Podcast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737360"/>
            <a:ext cx="3337560" cy="4480560"/>
          </a:xfrm>
          <a:prstGeom prst="roundRect">
            <a:avLst/>
          </a:prstGeom>
          <a:solidFill>
            <a:srgbClr val="FAFCFF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201168" rIns="201168"/>
          <a:lstStyle/>
          <a:p>
            <a:pPr algn="ctr">
              <a:spcAft>
                <a:spcPts val="1000"/>
              </a:spcAft>
              <a:defRPr sz="1400" b="1">
                <a:solidFill>
                  <a:srgbClr val="1B365D"/>
                </a:solidFill>
                <a:latin typeface="Arial"/>
              </a:defRPr>
            </a:pPr>
            <a:r>
              <a:t>How it Addresses the Problem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Eliminates Manual Bottlenecks: </a:t>
            </a:r>
            <a:r>
              <a:rPr sz="1150">
                <a:solidFill>
                  <a:srgbClr val="191E24"/>
                </a:solidFill>
                <a:latin typeface="Arial"/>
              </a:rPr>
              <a:t> Saves 4-6 hours daily spent by officers manually restructuring dense technical documents.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Unified Sovereign Platform: </a:t>
            </a:r>
            <a:r>
              <a:rPr sz="1150">
                <a:solidFill>
                  <a:srgbClr val="191E24"/>
                </a:solidFill>
                <a:latin typeface="Arial"/>
              </a:rPr>
              <a:t> Replaces disconnected tools into one integrated local dashboard.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Preserves Tactical Velocity: </a:t>
            </a:r>
            <a:r>
              <a:rPr sz="1150">
                <a:solidFill>
                  <a:srgbClr val="191E24"/>
                </a:solidFill>
                <a:latin typeface="Arial"/>
              </a:rPr>
              <a:t> Delivers immediate dissemination during critical national security events.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Eliminates Hallucination Risk: </a:t>
            </a:r>
            <a:r>
              <a:rPr sz="1150">
                <a:solidFill>
                  <a:srgbClr val="191E24"/>
                </a:solidFill>
                <a:latin typeface="Arial"/>
              </a:rPr>
              <a:t> Enforces strict RAG boundaries to ensure complete factual precision.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4" y="1737360"/>
            <a:ext cx="3337560" cy="4480560"/>
          </a:xfrm>
          <a:prstGeom prst="roundRect">
            <a:avLst/>
          </a:prstGeom>
          <a:solidFill>
            <a:srgbClr val="FAFCFF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201168" rIns="201168"/>
          <a:lstStyle/>
          <a:p>
            <a:pPr algn="ctr">
              <a:spcAft>
                <a:spcPts val="1000"/>
              </a:spcAft>
              <a:defRPr sz="1400" b="1">
                <a:solidFill>
                  <a:srgbClr val="1B365D"/>
                </a:solidFill>
                <a:latin typeface="Arial"/>
              </a:defRPr>
            </a:pPr>
            <a:r>
              <a:t>Innovation and Uniqueness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Interactive Source Highlighting: </a:t>
            </a:r>
            <a:r>
              <a:rPr sz="1150">
                <a:solidFill>
                  <a:srgbClr val="191E24"/>
                </a:solidFill>
                <a:latin typeface="Arial"/>
              </a:rPr>
              <a:t> Click any bullet point to open the raw PDF with the exact sentence highlighted.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Multi-Persona Tone Switching: </a:t>
            </a:r>
            <a:r>
              <a:rPr sz="1150">
                <a:solidFill>
                  <a:srgbClr val="191E24"/>
                </a:solidFill>
                <a:latin typeface="Arial"/>
              </a:rPr>
              <a:t> 1-click toggle between C-Suite Brief, Citizen Explainer, and Threat Alert.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Air-Gapped Sovereign Security: </a:t>
            </a:r>
            <a:r>
              <a:rPr sz="1150">
                <a:solidFill>
                  <a:srgbClr val="191E24"/>
                </a:solidFill>
                <a:latin typeface="Arial"/>
              </a:rPr>
              <a:t> Runs locally on open-weights (Llama 3/Mistral) without public cloud data leaks.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Deterministic Speed (&lt;10s): </a:t>
            </a:r>
            <a:r>
              <a:rPr sz="1150">
                <a:solidFill>
                  <a:srgbClr val="191E24"/>
                </a:solidFill>
                <a:latin typeface="Arial"/>
              </a:rPr>
              <a:t> High-throughput asynchronous pipeline with zero runtime failures.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228600"/>
            <a:ext cx="169164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191E24"/>
                </a:solidFill>
                <a:latin typeface="Arial"/>
              </a:defRPr>
            </a:pPr>
            <a:r>
              <a:t>Team Name</a:t>
            </a:r>
          </a:p>
          <a:p>
            <a:pPr algn="ctr">
              <a:defRPr sz="115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77440" y="32004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B365D"/>
                </a:solidFill>
                <a:latin typeface="Arial"/>
              </a:defRPr>
            </a:pPr>
            <a:r>
              <a:t>TECHNICAL APPROACH</a:t>
            </a:r>
          </a:p>
        </p:txBody>
      </p:sp>
      <p:pic>
        <p:nvPicPr>
          <p:cNvPr id="4" name="Picture 3" descr="sih_header_bann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28600"/>
            <a:ext cx="3886200" cy="5131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4389120" cy="4892040"/>
          </a:xfrm>
          <a:prstGeom prst="roundRect">
            <a:avLst/>
          </a:prstGeom>
          <a:solidFill>
            <a:srgbClr val="FAFCFF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28600" rIns="256032"/>
          <a:lstStyle/>
          <a:p>
            <a:pPr algn="ctr">
              <a:spcAft>
                <a:spcPts val="1200"/>
              </a:spcAft>
              <a:defRPr sz="1500" b="1" u="sng">
                <a:solidFill>
                  <a:srgbClr val="1B365D"/>
                </a:solidFill>
                <a:latin typeface="Arial"/>
              </a:defRPr>
            </a:pPr>
            <a:r>
              <a:t>• Technologies to be used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Frontend: </a:t>
            </a:r>
            <a:r>
              <a:rPr sz="1100">
                <a:solidFill>
                  <a:srgbClr val="191E24"/>
                </a:solidFill>
                <a:latin typeface="Arial"/>
              </a:rPr>
              <a:t>Next.js 14, React, Tailwind CSS, Lucide Icons, PDF.js canvas viewer.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Backend &amp; Ingestion: </a:t>
            </a:r>
            <a:r>
              <a:rPr sz="1100">
                <a:solidFill>
                  <a:srgbClr val="191E24"/>
                </a:solidFill>
                <a:latin typeface="Arial"/>
              </a:rPr>
              <a:t>Python FastAPI, PyMuPDF spatial coordinate extractor, LangChain.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Foundation AI Models: </a:t>
            </a:r>
            <a:r>
              <a:rPr sz="1100">
                <a:solidFill>
                  <a:srgbClr val="191E24"/>
                </a:solidFill>
                <a:latin typeface="Arial"/>
              </a:rPr>
              <a:t>Llama 3.3 (70B), Mistral Large, IndicBERT (regional translation).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Rendering Compilers: </a:t>
            </a:r>
            <a:r>
              <a:rPr sz="1100">
                <a:solidFill>
                  <a:srgbClr val="191E24"/>
                </a:solidFill>
                <a:latin typeface="Arial"/>
              </a:rPr>
              <a:t>Satori HTML-to-Image Canvas API, Marp slide engine, FFmpeg.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Voice AI Synthesis: </a:t>
            </a:r>
            <a:r>
              <a:rPr sz="1100">
                <a:solidFill>
                  <a:srgbClr val="191E24"/>
                </a:solidFill>
                <a:latin typeface="Arial"/>
              </a:rPr>
              <a:t>Piper Neural TTS &amp; ElevenLabs API.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Deployment &amp; Security: </a:t>
            </a:r>
            <a:r>
              <a:rPr sz="1100">
                <a:solidFill>
                  <a:srgbClr val="191E24"/>
                </a:solidFill>
                <a:latin typeface="Arial"/>
              </a:rPr>
              <a:t>Docker containerized, air-gapped Linux host, zero telemetry.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0" y="1325880"/>
            <a:ext cx="6035040" cy="4892040"/>
          </a:xfrm>
          <a:prstGeom prst="roundRect">
            <a:avLst/>
          </a:prstGeom>
          <a:solidFill>
            <a:srgbClr val="FAFCFF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28600" rIns="256032"/>
          <a:lstStyle/>
          <a:p>
            <a:pPr algn="ctr">
              <a:spcAft>
                <a:spcPts val="1200"/>
              </a:spcAft>
              <a:defRPr sz="1500" b="1" u="sng">
                <a:solidFill>
                  <a:srgbClr val="1B365D"/>
                </a:solidFill>
                <a:latin typeface="Arial"/>
              </a:defRPr>
            </a:pPr>
            <a:r>
              <a:t>• Methodology and process for implementation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Step 1: Document Ingestion: </a:t>
            </a:r>
            <a:r>
              <a:rPr sz="1100">
                <a:solidFill>
                  <a:srgbClr val="191E24"/>
                </a:solidFill>
                <a:latin typeface="Arial"/>
              </a:rPr>
              <a:t>PyMuPDF parses raw PDF/DOCX, extracting structural hierarchy, text coordinates, diagrams, and tables with bounding box tags.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Step 2: Structured Chunking &amp; RAG: </a:t>
            </a:r>
            <a:r>
              <a:rPr sz="1100">
                <a:solidFill>
                  <a:srgbClr val="191E24"/>
                </a:solidFill>
                <a:latin typeface="Arial"/>
              </a:rPr>
              <a:t>Hierarchical chunking creates contextual embeddings stored in an in-memory vector store (FAISS/Qdrant) for strict citation binding.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Step 3: Multi-Persona Orchestration: </a:t>
            </a:r>
            <a:r>
              <a:rPr sz="1100">
                <a:solidFill>
                  <a:srgbClr val="191E24"/>
                </a:solidFill>
                <a:latin typeface="Arial"/>
              </a:rPr>
              <a:t>Constrained JSON Schema prompts instruct the LLM to extract key insights, slide structures, infographic metrics, and press statements.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Step 4: Parallel Synthesis Engines: </a:t>
            </a:r>
            <a:r>
              <a:rPr sz="1100">
                <a:solidFill>
                  <a:srgbClr val="191E24"/>
                </a:solidFill>
                <a:latin typeface="Arial"/>
              </a:rPr>
              <a:t>Simultaneously compiles HTML5 presentation slides, auto-renders high-res visual cards (Canvas API), and generates 60s neural audio stream.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Step 5: Interactive Verification UI: </a:t>
            </a:r>
            <a:r>
              <a:rPr sz="1100">
                <a:solidFill>
                  <a:srgbClr val="191E24"/>
                </a:solidFill>
                <a:latin typeface="Arial"/>
              </a:rPr>
              <a:t>Delivers a live dashboard with side-by-side asset previews and clickable citation coordinates directly linking to the source PDF.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228600"/>
            <a:ext cx="169164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191E24"/>
                </a:solidFill>
                <a:latin typeface="Arial"/>
              </a:defRPr>
            </a:pPr>
            <a:r>
              <a:t>Team Name</a:t>
            </a:r>
          </a:p>
          <a:p>
            <a:pPr algn="ctr">
              <a:defRPr sz="115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77440" y="32004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B365D"/>
                </a:solidFill>
                <a:latin typeface="Arial"/>
              </a:defRPr>
            </a:pPr>
            <a:r>
              <a:t>FEASIBILITY AND VIABILITY</a:t>
            </a:r>
          </a:p>
        </p:txBody>
      </p:sp>
      <p:pic>
        <p:nvPicPr>
          <p:cNvPr id="4" name="Picture 3" descr="sih_header_bann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28600"/>
            <a:ext cx="3886200" cy="5131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10698480" cy="2011680"/>
          </a:xfrm>
          <a:prstGeom prst="roundRect">
            <a:avLst/>
          </a:prstGeom>
          <a:solidFill>
            <a:srgbClr val="FAFCFF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 rIns="256032"/>
          <a:lstStyle/>
          <a:p>
            <a:pPr algn="ctr">
              <a:spcAft>
                <a:spcPts val="800"/>
              </a:spcAft>
              <a:defRPr sz="1500" b="1" u="sng">
                <a:solidFill>
                  <a:srgbClr val="1B365D"/>
                </a:solidFill>
                <a:latin typeface="Arial"/>
              </a:defRPr>
            </a:pPr>
            <a:r>
              <a:t>• Analysis of the feasibility of the idea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Hardware &amp; Compute Feasibility: </a:t>
            </a:r>
            <a:r>
              <a:rPr sz="1150">
                <a:solidFill>
                  <a:srgbClr val="191E24"/>
                </a:solidFill>
                <a:latin typeface="Arial"/>
              </a:rPr>
              <a:t> Runs efficiently on commodity GPU workstations (e.g. Single RTX 4090 or Apple Silicon) using 4-bit quantized open-weight models.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Speed &amp; Runtime Feasibility: </a:t>
            </a:r>
            <a:r>
              <a:rPr sz="1150">
                <a:solidFill>
                  <a:srgbClr val="191E24"/>
                </a:solidFill>
                <a:latin typeface="Arial"/>
              </a:rPr>
              <a:t> Asynchronous map-reduce pipeline completes multi-format transformation of a 30-page PDF in &lt; 10 seconds.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Operational Deployment Feasibility: </a:t>
            </a:r>
            <a:r>
              <a:rPr sz="1150">
                <a:solidFill>
                  <a:srgbClr val="191E24"/>
                </a:solidFill>
                <a:latin typeface="Arial"/>
              </a:rPr>
              <a:t> 100% Dockerized container stack; operates fully air-gapped without external internet dependencies.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520440"/>
            <a:ext cx="3337560" cy="2697480"/>
          </a:xfrm>
          <a:prstGeom prst="roundRect">
            <a:avLst/>
          </a:prstGeom>
          <a:solidFill>
            <a:srgbClr val="FAFCFF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F37021"/>
                </a:solidFill>
                <a:latin typeface="Arial"/>
              </a:defRPr>
            </a:pPr>
            <a:r>
              <a:t>Risk 1: AI Hallucinations</a:t>
            </a:r>
          </a:p>
          <a:p>
            <a:pPr>
              <a:spcAft>
                <a:spcPts val="600"/>
              </a:spcAft>
              <a:defRPr sz="1100">
                <a:solidFill>
                  <a:srgbClr val="191E24"/>
                </a:solidFill>
                <a:latin typeface="Arial"/>
              </a:defRPr>
            </a:pPr>
            <a:r>
              <a:t>• Potential Challenge: Generative models inventing ungrounded facts in security briefs.</a:t>
            </a:r>
          </a:p>
          <a:p>
            <a:pPr>
              <a:defRPr sz="1100" b="1">
                <a:solidFill>
                  <a:srgbClr val="1B365D"/>
                </a:solidFill>
                <a:latin typeface="Arial"/>
              </a:defRPr>
            </a:pPr>
            <a:r>
              <a:t>• Strategy: Strict RAG constraint boundaries + reverse citation bounding-box coordinate verification for 100% grounded truth.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3520440"/>
            <a:ext cx="3337560" cy="2697480"/>
          </a:xfrm>
          <a:prstGeom prst="roundRect">
            <a:avLst/>
          </a:prstGeom>
          <a:solidFill>
            <a:srgbClr val="FAFCFF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F37021"/>
                </a:solidFill>
                <a:latin typeface="Arial"/>
              </a:defRPr>
            </a:pPr>
            <a:r>
              <a:t>Risk 2: Data Confidentiality</a:t>
            </a:r>
          </a:p>
          <a:p>
            <a:pPr>
              <a:spcAft>
                <a:spcPts val="600"/>
              </a:spcAft>
              <a:defRPr sz="1100">
                <a:solidFill>
                  <a:srgbClr val="191E24"/>
                </a:solidFill>
                <a:latin typeface="Arial"/>
              </a:defRPr>
            </a:pPr>
            <a:r>
              <a:t>• Potential Challenge: Sensitive classified intelligence leaked to public cloud APIs.</a:t>
            </a:r>
          </a:p>
          <a:p>
            <a:pPr>
              <a:defRPr sz="1100" b="1">
                <a:solidFill>
                  <a:srgbClr val="1B365D"/>
                </a:solidFill>
                <a:latin typeface="Arial"/>
              </a:defRPr>
            </a:pPr>
            <a:r>
              <a:t>• Strategy: Sovereign on-premise air-gapped deployment with local open-weights (Llama 3/Mistral); zero telemetry.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4" y="3520440"/>
            <a:ext cx="3337560" cy="2697480"/>
          </a:xfrm>
          <a:prstGeom prst="roundRect">
            <a:avLst/>
          </a:prstGeom>
          <a:solidFill>
            <a:srgbClr val="FAFCFF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F37021"/>
                </a:solidFill>
                <a:latin typeface="Arial"/>
              </a:defRPr>
            </a:pPr>
            <a:r>
              <a:t>Risk 3: Complex Tables &amp; Charts</a:t>
            </a:r>
          </a:p>
          <a:p>
            <a:pPr>
              <a:spcAft>
                <a:spcPts val="600"/>
              </a:spcAft>
              <a:defRPr sz="1100">
                <a:solidFill>
                  <a:srgbClr val="191E24"/>
                </a:solidFill>
                <a:latin typeface="Arial"/>
              </a:defRPr>
            </a:pPr>
            <a:r>
              <a:t>• Potential Challenge: Loss of tabular structure and diagram metrics during document parsing.</a:t>
            </a:r>
          </a:p>
          <a:p>
            <a:pPr>
              <a:defRPr sz="1100" b="1">
                <a:solidFill>
                  <a:srgbClr val="1B365D"/>
                </a:solidFill>
                <a:latin typeface="Arial"/>
              </a:defRPr>
            </a:pPr>
            <a:r>
              <a:t>• Strategy: Multimodal vision-language parsing (VLM) + Markdown table structure extraction.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228600"/>
            <a:ext cx="169164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191E24"/>
                </a:solidFill>
                <a:latin typeface="Arial"/>
              </a:defRPr>
            </a:pPr>
            <a:r>
              <a:t>Team Name</a:t>
            </a:r>
          </a:p>
          <a:p>
            <a:pPr algn="ctr">
              <a:defRPr sz="115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77440" y="32004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B365D"/>
                </a:solidFill>
                <a:latin typeface="Arial"/>
              </a:defRPr>
            </a:pPr>
            <a:r>
              <a:t>IMPACT AND BENEFITS</a:t>
            </a:r>
          </a:p>
        </p:txBody>
      </p:sp>
      <p:pic>
        <p:nvPicPr>
          <p:cNvPr id="4" name="Picture 3" descr="sih_header_bann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28600"/>
            <a:ext cx="3886200" cy="5131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5166360" cy="4937760"/>
          </a:xfrm>
          <a:prstGeom prst="roundRect">
            <a:avLst/>
          </a:prstGeom>
          <a:solidFill>
            <a:srgbClr val="FAFCFF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28600" rIns="256032"/>
          <a:lstStyle/>
          <a:p>
            <a:pPr algn="ctr">
              <a:spcAft>
                <a:spcPts val="1200"/>
              </a:spcAft>
              <a:defRPr sz="1500" b="1" u="sng">
                <a:solidFill>
                  <a:srgbClr val="1B365D"/>
                </a:solidFill>
                <a:latin typeface="Arial"/>
              </a:defRPr>
            </a:pPr>
            <a:r>
              <a:t>• Potential impact on the target audience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Government &amp; Defense Analysts (NTRO/MoD):
  </a:t>
            </a:r>
            <a:r>
              <a:rPr sz="1100">
                <a:solidFill>
                  <a:srgbClr val="191E24"/>
                </a:solidFill>
                <a:latin typeface="Arial"/>
              </a:rPr>
              <a:t>Saves 4-6 hours daily per analyst by instantly synthesizing complex intelligence and security advisories into actionable briefs.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Senior Bureaucrats &amp; C-Suite Executives:
  </a:t>
            </a:r>
            <a:r>
              <a:rPr sz="1100">
                <a:solidFill>
                  <a:srgbClr val="191E24"/>
                </a:solidFill>
                <a:latin typeface="Arial"/>
              </a:rPr>
              <a:t>Enables immediate decision-making via 1-page executive memos and interactive presentation decks.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Public Relations &amp; Media Officers:
  </a:t>
            </a:r>
            <a:r>
              <a:rPr sz="1100">
                <a:solidFill>
                  <a:srgbClr val="191E24"/>
                </a:solidFill>
                <a:latin typeface="Arial"/>
              </a:rPr>
              <a:t>Instant generation of accurate, jargon-free press releases and infographics in multiple regional languages.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Field Personnel &amp; Traveling Officials:
  </a:t>
            </a:r>
            <a:r>
              <a:rPr sz="1100">
                <a:solidFill>
                  <a:srgbClr val="191E24"/>
                </a:solidFill>
                <a:latin typeface="Arial"/>
              </a:rPr>
              <a:t>Delivers 60-second audio podcast briefings directly to mobile devices.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280160"/>
            <a:ext cx="5166360" cy="4937760"/>
          </a:xfrm>
          <a:prstGeom prst="roundRect">
            <a:avLst/>
          </a:prstGeom>
          <a:solidFill>
            <a:srgbClr val="FAFCFF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28600" rIns="256032"/>
          <a:lstStyle/>
          <a:p>
            <a:pPr algn="ctr">
              <a:spcAft>
                <a:spcPts val="1200"/>
              </a:spcAft>
              <a:defRPr sz="1500" b="1" u="sng">
                <a:solidFill>
                  <a:srgbClr val="1B365D"/>
                </a:solidFill>
                <a:latin typeface="Arial"/>
              </a:defRPr>
            </a:pPr>
            <a:r>
              <a:t>• Benefits of the solution (social, economic, etc.)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Economic Benefits: </a:t>
            </a:r>
            <a:r>
              <a:rPr sz="1100">
                <a:solidFill>
                  <a:srgbClr val="191E24"/>
                </a:solidFill>
                <a:latin typeface="Arial"/>
              </a:rPr>
              <a:t>Reduces enterprise document processing costs by 75%; eliminates expensive third-party graphic and presentation outsourcing.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Social &amp; Governance Impact: </a:t>
            </a:r>
            <a:r>
              <a:rPr sz="1100">
                <a:solidFill>
                  <a:srgbClr val="191E24"/>
                </a:solidFill>
                <a:latin typeface="Arial"/>
              </a:rPr>
              <a:t>Bridges the communication gap between technical policymakers and general citizens through regional Indic language summaries and visual posters.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National Security Advantage: </a:t>
            </a:r>
            <a:r>
              <a:rPr sz="1100">
                <a:solidFill>
                  <a:srgbClr val="191E24"/>
                </a:solidFill>
                <a:latin typeface="Arial"/>
              </a:rPr>
              <a:t>Maintains tactical information advantage during national security events through instant, multi-format threat dissemination.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Environmental Sustainability: </a:t>
            </a:r>
            <a:r>
              <a:rPr sz="1100">
                <a:solidFill>
                  <a:srgbClr val="191E24"/>
                </a:solidFill>
                <a:latin typeface="Arial"/>
              </a:rPr>
              <a:t>Drastically cuts down unnecessary paper report printing through interactive digital briefs and mobile voice summaries.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228600"/>
            <a:ext cx="169164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191E24"/>
                </a:solidFill>
                <a:latin typeface="Arial"/>
              </a:defRPr>
            </a:pPr>
            <a:r>
              <a:t>Team Name</a:t>
            </a:r>
          </a:p>
          <a:p>
            <a:pPr algn="ctr">
              <a:defRPr sz="115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77440" y="32004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B365D"/>
                </a:solidFill>
                <a:latin typeface="Arial"/>
              </a:defRPr>
            </a:pPr>
            <a:r>
              <a:t>RESEARCH AND REFERENCES</a:t>
            </a:r>
          </a:p>
        </p:txBody>
      </p:sp>
      <p:pic>
        <p:nvPicPr>
          <p:cNvPr id="4" name="Picture 3" descr="sih_header_bann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28600"/>
            <a:ext cx="3886200" cy="5131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5166360" cy="4937760"/>
          </a:xfrm>
          <a:prstGeom prst="roundRect">
            <a:avLst/>
          </a:prstGeom>
          <a:solidFill>
            <a:srgbClr val="FAFCFF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28600" rIns="256032"/>
          <a:lstStyle/>
          <a:p>
            <a:pPr algn="ctr">
              <a:spcAft>
                <a:spcPts val="1200"/>
              </a:spcAft>
              <a:defRPr sz="1500" b="1" u="sng">
                <a:solidFill>
                  <a:srgbClr val="1B365D"/>
                </a:solidFill>
                <a:latin typeface="Arial"/>
              </a:defRPr>
            </a:pPr>
            <a:r>
              <a:t>• Details / Links of reference &amp; research work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Lewis et al. (2020): </a:t>
            </a:r>
            <a:r>
              <a:rPr sz="1100">
                <a:solidFill>
                  <a:srgbClr val="191E24"/>
                </a:solidFill>
                <a:latin typeface="Arial"/>
              </a:rPr>
              <a:t>Retrieval-Augmented Generation for Knowledge-Intensive NLP Tasks (NeurIPS).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Touvron et al. (2023/2024): </a:t>
            </a:r>
            <a:r>
              <a:rPr sz="1100">
                <a:solidFill>
                  <a:srgbClr val="191E24"/>
                </a:solidFill>
                <a:latin typeface="Arial"/>
              </a:rPr>
              <a:t>Llama 3 &amp; Open Foundation Models for Sovereign Enterprise Reasoning.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Vaswani et al. (2017): </a:t>
            </a:r>
            <a:r>
              <a:rPr sz="1100">
                <a:solidFill>
                  <a:srgbClr val="191E24"/>
                </a:solidFill>
                <a:latin typeface="Arial"/>
              </a:rPr>
              <a:t>Attention Is All You Need — Transformer Architecture Fundamentals.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AI4Bharat / Bhashini (2023): </a:t>
            </a:r>
            <a:r>
              <a:rPr sz="1100">
                <a:solidFill>
                  <a:srgbClr val="191E24"/>
                </a:solidFill>
                <a:latin typeface="Arial"/>
              </a:rPr>
              <a:t>IndicBERT &amp; Multilingual Natural Language Architectures for Indian Languages.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ISO/IEC 27001 &amp; NIST Standards: </a:t>
            </a:r>
            <a:r>
              <a:rPr sz="1100">
                <a:solidFill>
                  <a:srgbClr val="191E24"/>
                </a:solidFill>
                <a:latin typeface="Arial"/>
              </a:rPr>
              <a:t>Cybersecurity &amp; Data Protection Frameworks for Air-Gapped Intelligence.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280160"/>
            <a:ext cx="5166360" cy="4937760"/>
          </a:xfrm>
          <a:prstGeom prst="roundRect">
            <a:avLst/>
          </a:prstGeom>
          <a:solidFill>
            <a:srgbClr val="FAFCFF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28600" rIns="256032"/>
          <a:lstStyle/>
          <a:p>
            <a:pPr algn="ctr">
              <a:spcAft>
                <a:spcPts val="1200"/>
              </a:spcAft>
              <a:defRPr sz="1500" b="1" u="sng">
                <a:solidFill>
                  <a:srgbClr val="1B365D"/>
                </a:solidFill>
                <a:latin typeface="Arial"/>
              </a:defRPr>
            </a:pPr>
            <a:r>
              <a:t>• Official Portals &amp; Project Verification Links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SIH 2026 Problem Statement 26154:
  </a:t>
            </a:r>
            <a:r>
              <a:rPr sz="1050">
                <a:solidFill>
                  <a:srgbClr val="0077C8"/>
                </a:solidFill>
                <a:latin typeface="Arial"/>
              </a:rPr>
              <a:t>https://www.sih.gov.in/sih2026PS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NTRO Official Government Portal:
  </a:t>
            </a:r>
            <a:r>
              <a:rPr sz="1050">
                <a:solidFill>
                  <a:srgbClr val="0077C8"/>
                </a:solidFill>
                <a:latin typeface="Arial"/>
              </a:rPr>
              <a:t>https://ntro.gov.in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Live Web Platform &amp; Design System:
  </a:t>
            </a:r>
            <a:r>
              <a:rPr sz="1050">
                <a:solidFill>
                  <a:srgbClr val="0077C8"/>
                </a:solidFill>
                <a:latin typeface="Arial"/>
              </a:rPr>
              <a:t>https://hrl-brand-seo.vercel.app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GitHub Project Repository:
  </a:t>
            </a:r>
            <a:r>
              <a:rPr sz="1050">
                <a:solidFill>
                  <a:srgbClr val="0077C8"/>
                </a:solidFill>
                <a:latin typeface="Arial"/>
              </a:rPr>
              <a:t>https://github.com/hrlpavan/sih-2026-media-problem-statements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B365D"/>
                </a:solidFill>
                <a:latin typeface="Arial"/>
              </a:rPr>
              <a:t>• Winning Blueprint &amp; Documentation:
  </a:t>
            </a:r>
            <a:r>
              <a:rPr sz="1050">
                <a:solidFill>
                  <a:srgbClr val="0077C8"/>
                </a:solidFill>
                <a:latin typeface="Arial"/>
              </a:rPr>
              <a:t>https://github.com/hrlpavan/sih-2026-media-problem-statements/blob/main/WINNING_STRATEGY_PS26154.md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