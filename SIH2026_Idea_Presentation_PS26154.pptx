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0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2C61"/>
                </a:solidFill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41E2D"/>
                </a:solidFill>
              </a:defRPr>
            </a:pPr>
            <a:r>
              <a:t>TITLE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66344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1000"/>
              </a:spcAft>
            </a:pPr>
            <a:r>
              <a:rPr b="1" sz="1300">
                <a:solidFill>
                  <a:srgbClr val="0B2C61"/>
                </a:solidFill>
              </a:rPr>
              <a:t>• Problem Statement ID: </a:t>
            </a:r>
            <a:r>
              <a:rPr b="1" sz="1300">
                <a:solidFill>
                  <a:srgbClr val="141E2D"/>
                </a:solidFill>
              </a:rPr>
              <a:t>26154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B2C61"/>
                </a:solidFill>
              </a:rPr>
              <a:t>• Problem Statement Title: </a:t>
            </a:r>
            <a:r>
              <a:rPr b="1" sz="1300">
                <a:solidFill>
                  <a:srgbClr val="F05A24"/>
                </a:solidFill>
              </a:rPr>
              <a:t>Gen AI Platform for Automated Content Transformation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B2C61"/>
                </a:solidFill>
              </a:rPr>
              <a:t>• Theme: </a:t>
            </a:r>
            <a:r>
              <a:rPr b="0" sz="1300">
                <a:solidFill>
                  <a:srgbClr val="141E2D"/>
                </a:solidFill>
              </a:rPr>
              <a:t>Blockchain &amp; Cybersecurity / Artificial Intelligence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B2C61"/>
                </a:solidFill>
              </a:rPr>
              <a:t>• PS Category: </a:t>
            </a:r>
            <a:r>
              <a:rPr b="0" sz="1300">
                <a:solidFill>
                  <a:srgbClr val="141E2D"/>
                </a:solidFill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B2C61"/>
                </a:solidFill>
              </a:rPr>
              <a:t>• Organization: </a:t>
            </a:r>
            <a:r>
              <a:rPr b="0" sz="1300">
                <a:solidFill>
                  <a:srgbClr val="141E2D"/>
                </a:solidFill>
              </a:rPr>
              <a:t>National Technical Research Organisation (NTRO)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B2C61"/>
                </a:solidFill>
              </a:rPr>
              <a:t>• Team Name: </a:t>
            </a:r>
            <a:r>
              <a:rPr b="0" sz="1300">
                <a:solidFill>
                  <a:srgbClr val="141E2D"/>
                </a:solidFill>
              </a:rPr>
              <a:t>OmniTransform (Leader: Pavan Kumar S)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B2C61"/>
                </a:solidFill>
              </a:rPr>
              <a:t>• Idea Title: </a:t>
            </a:r>
            <a:r>
              <a:rPr b="1" sz="1300">
                <a:solidFill>
                  <a:srgbClr val="141E2D"/>
                </a:solidFill>
              </a:rPr>
              <a:t>OmniTransform AI – Sovereign Multimodal Content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463040"/>
            <a:ext cx="3657600" cy="4663440"/>
          </a:xfrm>
          <a:prstGeom prst="roundRect">
            <a:avLst/>
          </a:prstGeom>
          <a:solidFill>
            <a:srgbClr val="0B2C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365760"/>
          <a:lstStyle/>
          <a:p>
            <a:pPr algn="ctr">
              <a:spcAft>
                <a:spcPts val="1400"/>
              </a:spcAft>
              <a:defRPr sz="2000" b="1">
                <a:solidFill>
                  <a:srgbClr val="FFFFFF"/>
                </a:solidFill>
              </a:defRPr>
            </a:pPr>
            <a:r>
              <a:t>OmniTransform AI</a:t>
            </a:r>
          </a:p>
          <a:p>
            <a:pPr>
              <a:spcAft>
                <a:spcPts val="1200"/>
              </a:spcAft>
              <a:defRPr sz="1100">
                <a:solidFill>
                  <a:srgbClr val="DCEBFF"/>
                </a:solidFill>
              </a:defRPr>
            </a:pPr>
            <a:r>
              <a:t>⚡ 1-to-5 Synchronized Multi-Asset Generation in &lt;10s</a:t>
            </a:r>
          </a:p>
          <a:p>
            <a:pPr>
              <a:spcAft>
                <a:spcPts val="1200"/>
              </a:spcAft>
              <a:defRPr sz="1100">
                <a:solidFill>
                  <a:srgbClr val="DCEBFF"/>
                </a:solidFill>
              </a:defRPr>
            </a:pPr>
            <a:r>
              <a:t>🎯 100% Grounded Source Citation &amp; Anti-Hallucination</a:t>
            </a:r>
          </a:p>
          <a:p>
            <a:pPr>
              <a:spcAft>
                <a:spcPts val="1200"/>
              </a:spcAft>
              <a:defRPr sz="1100">
                <a:solidFill>
                  <a:srgbClr val="DCEBFF"/>
                </a:solidFill>
              </a:defRPr>
            </a:pPr>
            <a:r>
              <a:t>🔒 Sovereign Air-Gapped On-Premise Compliance</a:t>
            </a:r>
          </a:p>
          <a:p>
            <a:pPr>
              <a:spcAft>
                <a:spcPts val="1200"/>
              </a:spcAft>
              <a:defRPr sz="1100">
                <a:solidFill>
                  <a:srgbClr val="DCEBFF"/>
                </a:solidFill>
              </a:defRPr>
            </a:pPr>
            <a:r>
              <a:t>🎙️ Integrated Studio-Quality Audio Intelligence Podcast</a:t>
            </a:r>
          </a:p>
          <a:p>
            <a:pPr>
              <a:spcAft>
                <a:spcPts val="1200"/>
              </a:spcAft>
              <a:defRPr sz="1100">
                <a:solidFill>
                  <a:srgbClr val="DCEBFF"/>
                </a:solidFill>
              </a:defRPr>
            </a:pPr>
            <a:r>
              <a:t>🌐 Live Ecosystem: hrl-brand-seo.vercel.app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0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2C61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011680" cy="365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2C61"/>
                </a:solidFill>
              </a:defRPr>
            </a:pPr>
            <a:r>
              <a:t>Team: OmniTransform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8288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B2C61"/>
                </a:solidFill>
              </a:defRPr>
            </a:pPr>
            <a:r>
              <a:t>SMART INDIA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E7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@SIH Idea submission- Template | PS ID: 26154 (NTRO)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05A24"/>
                </a:solidFill>
              </a:defRPr>
            </a:pPr>
            <a:r>
              <a:t>OmniTransform AI: Single-Pass Ingestion to 5 Synchronized Media Formats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1000"/>
              </a:spcAft>
              <a:defRPr b="1" sz="1400">
                <a:solidFill>
                  <a:srgbClr val="0B2C61"/>
                </a:solidFill>
              </a:defRPr>
            </a:pPr>
            <a:r>
              <a:t>1. Detailed Explanation</a:t>
            </a:r>
          </a:p>
          <a:p>
            <a:pPr>
              <a:spcAft>
                <a:spcPts val="500"/>
              </a:spcAft>
              <a:defRPr sz="1000">
                <a:solidFill>
                  <a:srgbClr val="141E2D"/>
                </a:solidFill>
              </a:defRPr>
            </a:pPr>
            <a:r>
              <a:t>• Core Concept: An enterprise Gen AI platform that ingests dense 50+ page PDFs, threat advisories, and policy documents.</a:t>
            </a:r>
          </a:p>
          <a:p>
            <a:pPr>
              <a:spcAft>
                <a:spcPts val="500"/>
              </a:spcAft>
              <a:defRPr sz="1000">
                <a:solidFill>
                  <a:srgbClr val="141E2D"/>
                </a:solidFill>
              </a:defRPr>
            </a:pPr>
            <a:r>
              <a:t>• Single-Pass Multi-Output: In under 10 seconds, generates 5 production assets simultaneously:</a:t>
            </a:r>
          </a:p>
          <a:p>
            <a:pPr>
              <a:spcAft>
                <a:spcPts val="500"/>
              </a:spcAft>
              <a:defRPr sz="1000">
                <a:solidFill>
                  <a:srgbClr val="141E2D"/>
                </a:solidFill>
              </a:defRPr>
            </a:pPr>
            <a:r>
              <a:t>  1. 📊 Executive 1-Page Memo</a:t>
            </a:r>
          </a:p>
          <a:p>
            <a:pPr>
              <a:spcAft>
                <a:spcPts val="500"/>
              </a:spcAft>
              <a:defRPr sz="1000">
                <a:solidFill>
                  <a:srgbClr val="141E2D"/>
                </a:solidFill>
              </a:defRPr>
            </a:pPr>
            <a:r>
              <a:t>  2. 🖥️ Keynote Slide Presentation</a:t>
            </a:r>
          </a:p>
          <a:p>
            <a:pPr>
              <a:spcAft>
                <a:spcPts val="500"/>
              </a:spcAft>
              <a:defRPr sz="1000">
                <a:solidFill>
                  <a:srgbClr val="141E2D"/>
                </a:solidFill>
              </a:defRPr>
            </a:pPr>
            <a:r>
              <a:t>  3. 🎨 Visual Infographics &amp; Cards</a:t>
            </a:r>
          </a:p>
          <a:p>
            <a:pPr>
              <a:spcAft>
                <a:spcPts val="500"/>
              </a:spcAft>
              <a:defRPr sz="1000">
                <a:solidFill>
                  <a:srgbClr val="141E2D"/>
                </a:solidFill>
              </a:defRPr>
            </a:pPr>
            <a:r>
              <a:t>  4. 📰 Multilingual Press Release</a:t>
            </a:r>
          </a:p>
          <a:p>
            <a:pPr>
              <a:spcAft>
                <a:spcPts val="500"/>
              </a:spcAft>
              <a:defRPr sz="1000">
                <a:solidFill>
                  <a:srgbClr val="141E2D"/>
                </a:solidFill>
              </a:defRPr>
            </a:pPr>
            <a:r>
              <a:t>  5. 🎙️ 60s Voice Audio Podcast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463040"/>
            <a:ext cx="3328416" cy="466344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1000"/>
              </a:spcAft>
              <a:defRPr b="1" sz="1400">
                <a:solidFill>
                  <a:srgbClr val="0B2C61"/>
                </a:solidFill>
              </a:defRPr>
            </a:pPr>
            <a:r>
              <a:t>2. How It Addresses Problem</a:t>
            </a:r>
          </a:p>
          <a:p>
            <a:pPr>
              <a:spcAft>
                <a:spcPts val="600"/>
              </a:spcAft>
              <a:defRPr sz="1000">
                <a:solidFill>
                  <a:srgbClr val="141E2D"/>
                </a:solidFill>
              </a:defRPr>
            </a:pPr>
            <a:r>
              <a:t>• Eliminates 4-6 Hours Manual Synthesis: Automates document restructuring across technical, executive, and public audiences.</a:t>
            </a:r>
          </a:p>
          <a:p>
            <a:pPr>
              <a:spcAft>
                <a:spcPts val="600"/>
              </a:spcAft>
              <a:defRPr sz="1000">
                <a:solidFill>
                  <a:srgbClr val="141E2D"/>
                </a:solidFill>
              </a:defRPr>
            </a:pPr>
            <a:r>
              <a:t>• Solves Tool Fragmentation: Replaces separate disconnected tools (Canva, PowerPoint, Word, Chatbots).</a:t>
            </a:r>
          </a:p>
          <a:p>
            <a:pPr>
              <a:spcAft>
                <a:spcPts val="600"/>
              </a:spcAft>
              <a:defRPr sz="1000">
                <a:solidFill>
                  <a:srgbClr val="141E2D"/>
                </a:solidFill>
              </a:defRPr>
            </a:pPr>
            <a:r>
              <a:t>• Eliminates Hallucination Risk: Enforces strict RAG boundaries with exact sentence-level coordinate tracking.</a:t>
            </a:r>
          </a:p>
          <a:p>
            <a:pPr>
              <a:spcAft>
                <a:spcPts val="600"/>
              </a:spcAft>
              <a:defRPr sz="1000">
                <a:solidFill>
                  <a:srgbClr val="141E2D"/>
                </a:solidFill>
              </a:defRPr>
            </a:pPr>
            <a:r>
              <a:t>• Preserves Tactical Velocity: Immediate delivery of time-critical intelligence to senior defense/civil directors.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463040"/>
            <a:ext cx="3328416" cy="466344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1000"/>
              </a:spcAft>
              <a:defRPr b="1" sz="1400">
                <a:solidFill>
                  <a:srgbClr val="0B2C61"/>
                </a:solidFill>
              </a:defRPr>
            </a:pPr>
            <a:r>
              <a:t>3. Innovation &amp; Uniqueness</a:t>
            </a:r>
          </a:p>
          <a:p>
            <a:pPr>
              <a:spcAft>
                <a:spcPts val="600"/>
              </a:spcAft>
              <a:defRPr sz="1000">
                <a:solidFill>
                  <a:srgbClr val="141E2D"/>
                </a:solidFill>
              </a:defRPr>
            </a:pPr>
            <a:r>
              <a:t>• Interactive Source Badges: Click any bullet to open the PDF and highlight the exact originating sentence.</a:t>
            </a:r>
          </a:p>
          <a:p>
            <a:pPr>
              <a:spcAft>
                <a:spcPts val="600"/>
              </a:spcAft>
              <a:defRPr sz="1000">
                <a:solidFill>
                  <a:srgbClr val="141E2D"/>
                </a:solidFill>
              </a:defRPr>
            </a:pPr>
            <a:r>
              <a:t>• 1-Click Multi-Persona Toggle: Seamlessly switch between C-Suite Memo, Citizen FAQ, and Threat Brief.</a:t>
            </a:r>
          </a:p>
          <a:p>
            <a:pPr>
              <a:spcAft>
                <a:spcPts val="600"/>
              </a:spcAft>
              <a:defRPr sz="1000">
                <a:solidFill>
                  <a:srgbClr val="141E2D"/>
                </a:solidFill>
              </a:defRPr>
            </a:pPr>
            <a:r>
              <a:t>• Sovereign Air-Gapped Ready: Runs locally on open-weights (Llama 3/Mistral) without public cloud leaks.</a:t>
            </a:r>
          </a:p>
          <a:p>
            <a:pPr>
              <a:spcAft>
                <a:spcPts val="600"/>
              </a:spcAft>
              <a:defRPr sz="1000">
                <a:solidFill>
                  <a:srgbClr val="141E2D"/>
                </a:solidFill>
              </a:defRPr>
            </a:pPr>
            <a:r>
              <a:t>• Apple-Standard Frosted UI: Glassmorphism layout for clean, executive-ready presentation.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0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2C61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011680" cy="365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2C61"/>
                </a:solidFill>
              </a:defRPr>
            </a:pPr>
            <a:r>
              <a:t>Team: OmniTransform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8288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B2C61"/>
                </a:solidFill>
              </a:defRPr>
            </a:pPr>
            <a:r>
              <a:t>SMART INDIA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E7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@SIH Idea submission- Template | PS ID: 26154 (NTRO)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4114800" cy="4937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b="1" sz="1500">
                <a:solidFill>
                  <a:srgbClr val="0B2C61"/>
                </a:solidFill>
              </a:defRPr>
            </a:pPr>
            <a:r>
              <a:t>1. Technologies &amp; Stack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Frontend: </a:t>
            </a:r>
            <a:r>
              <a:rPr sz="1000">
                <a:solidFill>
                  <a:srgbClr val="141E2D"/>
                </a:solidFill>
              </a:rPr>
              <a:t>Next.js 14, React, Tailwind CSS, Lucide Icons, PDF.js canvas viewer.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Backend Engine: </a:t>
            </a:r>
            <a:r>
              <a:rPr sz="1000">
                <a:solidFill>
                  <a:srgbClr val="141E2D"/>
                </a:solidFill>
              </a:rPr>
              <a:t>Python FastAPI, LangChain / LlamaIndex, PyMuPDF coordinate parser.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AI / LLMs: </a:t>
            </a:r>
            <a:r>
              <a:rPr sz="1000">
                <a:solidFill>
                  <a:srgbClr val="141E2D"/>
                </a:solidFill>
              </a:rPr>
              <a:t>Llama 3.3 (70B), Mistral Large, IndicBERT (regional translation).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Rendering &amp; Media: </a:t>
            </a:r>
            <a:r>
              <a:rPr sz="1000">
                <a:solidFill>
                  <a:srgbClr val="141E2D"/>
                </a:solidFill>
              </a:rPr>
              <a:t>Satori HTML-to-Image Canvas API, Marp slide compiler, FFmpeg.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Voice AI: </a:t>
            </a:r>
            <a:r>
              <a:rPr sz="1000">
                <a:solidFill>
                  <a:srgbClr val="141E2D"/>
                </a:solidFill>
              </a:rPr>
              <a:t>Piper Neural TTS &amp; ElevenLabs API.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Deployment: </a:t>
            </a:r>
            <a:r>
              <a:rPr sz="1000">
                <a:solidFill>
                  <a:srgbClr val="141E2D"/>
                </a:solidFill>
              </a:rPr>
              <a:t>Docker containerized, air-gapped Linux host, zero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280160"/>
            <a:ext cx="6309360" cy="4937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b="1" sz="1500">
                <a:solidFill>
                  <a:srgbClr val="0B2C61"/>
                </a:solidFill>
              </a:defRPr>
            </a:pPr>
            <a:r>
              <a:t>2. Methodology &amp; Process Flow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B2C61"/>
                </a:solidFill>
              </a:rPr>
              <a:t>• Step 1: Document Ingestion: </a:t>
            </a:r>
            <a:r>
              <a:rPr sz="1000">
                <a:solidFill>
                  <a:srgbClr val="141E2D"/>
                </a:solidFill>
              </a:rPr>
              <a:t>PyMuPDF parses raw PDF/DOCX, extracting structural hierarchy, text coordinates, diagrams, and tables with bounding box tags.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B2C61"/>
                </a:solidFill>
              </a:rPr>
              <a:t>• Step 2: Structured Chunking &amp; RAG: </a:t>
            </a:r>
            <a:r>
              <a:rPr sz="1000">
                <a:solidFill>
                  <a:srgbClr val="141E2D"/>
                </a:solidFill>
              </a:rPr>
              <a:t>Hierarchical chunking creates contextual embeddings stored in an in-memory vector store (FAISS/Qdrant) for strict citation binding.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B2C61"/>
                </a:solidFill>
              </a:rPr>
              <a:t>• Step 3: Multi-Persona Orchestration: </a:t>
            </a:r>
            <a:r>
              <a:rPr sz="1000">
                <a:solidFill>
                  <a:srgbClr val="141E2D"/>
                </a:solidFill>
              </a:rPr>
              <a:t>Constrained JSON Schema prompts instruct the LLM to extract key insights, slide structures, infographic metrics, and press statements.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B2C61"/>
                </a:solidFill>
              </a:rPr>
              <a:t>• Step 4: Parallel Synthesis Engines: </a:t>
            </a:r>
            <a:r>
              <a:rPr sz="1000">
                <a:solidFill>
                  <a:srgbClr val="141E2D"/>
                </a:solidFill>
              </a:rPr>
              <a:t>Simultaneously compiles HTML5 presentation slides, auto-renders high-res visual cards (Canvas API), and generates 60s neural audio stream.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B2C61"/>
                </a:solidFill>
              </a:rPr>
              <a:t>• Step 5: Interactive Verification UI: </a:t>
            </a:r>
            <a:r>
              <a:rPr sz="1000">
                <a:solidFill>
                  <a:srgbClr val="141E2D"/>
                </a:solidFill>
              </a:rPr>
              <a:t>Delivers a live dashboard with side-by-side asset previews and clickable citation coordinates directly linking to the source PDF.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0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2C61"/>
                </a:solidFill>
                <a:latin typeface="Arial"/>
              </a:defRPr>
            </a:pPr>
            <a:r>
              <a:t>FEASIBILITY AND VIABILITY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011680" cy="365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2C61"/>
                </a:solidFill>
              </a:defRPr>
            </a:pPr>
            <a:r>
              <a:t>Team: OmniTransform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8288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B2C61"/>
                </a:solidFill>
              </a:defRPr>
            </a:pPr>
            <a:r>
              <a:t>SMART INDIA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E7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@SIH Idea submission- Template | PS ID: 26154 (NTRO)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10698480" cy="201168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spcAft>
                <a:spcPts val="600"/>
              </a:spcAft>
              <a:defRPr b="1" sz="1400">
                <a:solidFill>
                  <a:srgbClr val="0B2C61"/>
                </a:solidFill>
              </a:defRPr>
            </a:pPr>
            <a:r>
              <a:t>1. Technical &amp; Operational Feasibility Analysis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71E3"/>
                </a:solidFill>
              </a:rPr>
              <a:t>• Hardware &amp; Infrastructure: </a:t>
            </a:r>
            <a:r>
              <a:rPr sz="1000">
                <a:solidFill>
                  <a:srgbClr val="141E2D"/>
                </a:solidFill>
              </a:rPr>
              <a:t>Runs efficiently on commodity GPU workstations (e.g. Single RTX 4090 or Apple Silicon) using 4-bit quantized open-weight models.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71E3"/>
                </a:solidFill>
              </a:rPr>
              <a:t>• Deterministic Speed: </a:t>
            </a:r>
            <a:r>
              <a:rPr sz="1000">
                <a:solidFill>
                  <a:srgbClr val="141E2D"/>
                </a:solidFill>
              </a:rPr>
              <a:t>Asynchronous map-reduce pipeline completes multi-format transformation of a 30-page PDF in &lt; 10 seconds.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71E3"/>
                </a:solidFill>
              </a:rPr>
              <a:t>• Zero External Dependency: </a:t>
            </a:r>
            <a:r>
              <a:rPr sz="1000">
                <a:solidFill>
                  <a:srgbClr val="141E2D"/>
                </a:solidFill>
              </a:rPr>
              <a:t>Entire software stack is containerized in Docker; operates fully offline in air-gapped defense/intelligence environments.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3328416" cy="274320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b="1" sz="1200">
                <a:solidFill>
                  <a:srgbClr val="F05A24"/>
                </a:solidFill>
              </a:defRPr>
            </a:pPr>
            <a:r>
              <a:t>Risk 1: AI Hallucination</a:t>
            </a:r>
          </a:p>
          <a:p>
            <a:pPr>
              <a:defRPr sz="1000">
                <a:solidFill>
                  <a:srgbClr val="141E2D"/>
                </a:solidFill>
              </a:defRPr>
            </a:pPr>
            <a:r>
              <a:t>• Challenge: Fabricated facts in intelligence briefs.</a:t>
            </a:r>
            <a:br/>
            <a:r>
              <a:t>• Strategy: Strict RAG constraint boundaries + reverse citation bounding-box verification for 100% grounded truth.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3474720"/>
            <a:ext cx="3328416" cy="274320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b="1" sz="1200">
                <a:solidFill>
                  <a:srgbClr val="F05A24"/>
                </a:solidFill>
              </a:defRPr>
            </a:pPr>
            <a:r>
              <a:t>Risk 2: Data Confidentiality</a:t>
            </a:r>
          </a:p>
          <a:p>
            <a:pPr>
              <a:defRPr sz="1000">
                <a:solidFill>
                  <a:srgbClr val="141E2D"/>
                </a:solidFill>
              </a:defRPr>
            </a:pPr>
            <a:r>
              <a:t>• Challenge: Classified leaks to public cloud APIs.</a:t>
            </a:r>
            <a:br/>
            <a:r>
              <a:t>• Strategy: Sovereign on-premise deployment with air-gapped local LLMs (Llama 3/Mistral); zero telemetry.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3474720"/>
            <a:ext cx="3328416" cy="274320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spcAft>
                <a:spcPts val="600"/>
              </a:spcAft>
              <a:defRPr b="1" sz="1200">
                <a:solidFill>
                  <a:srgbClr val="F05A24"/>
                </a:solidFill>
              </a:defRPr>
            </a:pPr>
            <a:r>
              <a:t>Risk 3: Complex Tables &amp; Charts</a:t>
            </a:r>
          </a:p>
          <a:p>
            <a:pPr>
              <a:defRPr sz="1000">
                <a:solidFill>
                  <a:srgbClr val="141E2D"/>
                </a:solidFill>
              </a:defRPr>
            </a:pPr>
            <a:r>
              <a:t>• Challenge: Loss of tabular &amp; diagrammatic data.</a:t>
            </a:r>
            <a:br/>
            <a:r>
              <a:t>• Strategy: Multimodal vision-language parsing (VLM) + Markdown table structure extraction.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0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2C61"/>
                </a:solidFill>
                <a:latin typeface="Arial"/>
              </a:defRPr>
            </a:pPr>
            <a:r>
              <a:t>IMPACT AND BENEFITS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011680" cy="365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2C61"/>
                </a:solidFill>
              </a:defRPr>
            </a:pPr>
            <a:r>
              <a:t>Team: OmniTransform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8288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B2C61"/>
                </a:solidFill>
              </a:defRPr>
            </a:pPr>
            <a:r>
              <a:t>SMART INDIA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E7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@SIH Idea submission- Template | PS ID: 26154 (NTRO)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b="1" sz="1500">
                <a:solidFill>
                  <a:srgbClr val="0B2C61"/>
                </a:solidFill>
              </a:defRPr>
            </a:pPr>
            <a:r>
              <a:t>1. Impact on Target Audience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Government &amp; Defense Analysts (NTRO/MoD):
  </a:t>
            </a:r>
            <a:r>
              <a:rPr sz="1000">
                <a:solidFill>
                  <a:srgbClr val="141E2D"/>
                </a:solidFill>
              </a:rPr>
              <a:t>Saves 4-6 hours daily per analyst by instantly synthesizing complex intelligence and security advisories into actionable briefs.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Senior Bureaucrats &amp; C-Suite Executives:
  </a:t>
            </a:r>
            <a:r>
              <a:rPr sz="1000">
                <a:solidFill>
                  <a:srgbClr val="141E2D"/>
                </a:solidFill>
              </a:rPr>
              <a:t>Enables immediate decision-making via 1-page executive memos and interactive Keynote presentation decks.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Public Relations &amp; Media Officers:
  </a:t>
            </a:r>
            <a:r>
              <a:rPr sz="1000">
                <a:solidFill>
                  <a:srgbClr val="141E2D"/>
                </a:solidFill>
              </a:rPr>
              <a:t>Instant generation of accurate, jargon-free press releases and infographics in multiple regional languages.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Field Personnel &amp; Traveling Officials:
  </a:t>
            </a:r>
            <a:r>
              <a:rPr sz="1000">
                <a:solidFill>
                  <a:srgbClr val="141E2D"/>
                </a:solidFill>
              </a:rPr>
              <a:t>Delivers 60-second audio podcast briefings directly to mobile devices.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b="1" sz="1500">
                <a:solidFill>
                  <a:srgbClr val="0B2C61"/>
                </a:solidFill>
              </a:defRPr>
            </a:pPr>
            <a:r>
              <a:t>2. Multi-Dimensional Benefits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💰 Economic Benefits: </a:t>
            </a:r>
            <a:r>
              <a:rPr sz="1000">
                <a:solidFill>
                  <a:srgbClr val="141E2D"/>
                </a:solidFill>
              </a:rPr>
              <a:t>Reduces enterprise document processing costs by 75%; eliminates expensive third-party graphic and presentation outsourcing.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🤝 Social &amp; Governance Impact: </a:t>
            </a:r>
            <a:r>
              <a:rPr sz="1000">
                <a:solidFill>
                  <a:srgbClr val="141E2D"/>
                </a:solidFill>
              </a:rPr>
              <a:t>Bridges the communication gap between technical policymakers and general citizens through regional Indic language summaries and visual posters.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🛡️ National Security Benefit: </a:t>
            </a:r>
            <a:r>
              <a:rPr sz="1000">
                <a:solidFill>
                  <a:srgbClr val="141E2D"/>
                </a:solidFill>
              </a:rPr>
              <a:t>Maintains tactical information advantage during national security events through instant, multi-format threat dissemination.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🌱 Environmental Sustainability: </a:t>
            </a:r>
            <a:r>
              <a:rPr sz="1000">
                <a:solidFill>
                  <a:srgbClr val="141E2D"/>
                </a:solidFill>
              </a:rPr>
              <a:t>Drastically cuts down unnecessary paper report printing through interactive digital briefs and mobile voice summaries.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05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2C61"/>
                </a:solidFill>
                <a:latin typeface="Arial"/>
              </a:defRPr>
            </a:pPr>
            <a:r>
              <a:t>RESEARCH AND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011680" cy="365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2C61"/>
                </a:solidFill>
              </a:defRPr>
            </a:pPr>
            <a:r>
              <a:t>Team: OmniTransform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8288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B2C61"/>
                </a:solidFill>
              </a:defRPr>
            </a:pPr>
            <a:r>
              <a:t>SMART INDIA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E74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@SIH Idea submission- Template | PS ID: 26154 (NTRO)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b="1" sz="1500">
                <a:solidFill>
                  <a:srgbClr val="0B2C61"/>
                </a:solidFill>
              </a:defRPr>
            </a:pPr>
            <a:r>
              <a:t>1. Research Papers &amp; Literature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Lewis et al. (2020): </a:t>
            </a:r>
            <a:r>
              <a:rPr sz="1000">
                <a:solidFill>
                  <a:srgbClr val="141E2D"/>
                </a:solidFill>
              </a:rPr>
              <a:t>Retrieval-Augmented Generation for Knowledge-Intensive NLP Tasks (NeurIPS).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Touvron et al. (2023/2024): </a:t>
            </a:r>
            <a:r>
              <a:rPr sz="1000">
                <a:solidFill>
                  <a:srgbClr val="141E2D"/>
                </a:solidFill>
              </a:rPr>
              <a:t>Llama 3 &amp; Open Foundation Models for Sovereign Enterprise Reasoning.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Vaswani et al. (2017): </a:t>
            </a:r>
            <a:r>
              <a:rPr sz="1000">
                <a:solidFill>
                  <a:srgbClr val="141E2D"/>
                </a:solidFill>
              </a:rPr>
              <a:t>Attention Is All You Need — Transformer Architecture Fundamentals.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Bhashini / AI4Bharat (2023): </a:t>
            </a:r>
            <a:r>
              <a:rPr sz="1000">
                <a:solidFill>
                  <a:srgbClr val="141E2D"/>
                </a:solidFill>
              </a:rPr>
              <a:t>IndicBERT &amp; Multilingual Natural Language Architectures for Indian Languages.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071E3"/>
                </a:solidFill>
              </a:rPr>
              <a:t>• ISO/IEC 27001 &amp; NIST Standards: </a:t>
            </a:r>
            <a:r>
              <a:rPr sz="1000">
                <a:solidFill>
                  <a:srgbClr val="141E2D"/>
                </a:solidFill>
              </a:rPr>
              <a:t>Cybersecurity &amp; Data Protection Frameworks for Air-Gapped Intelligence.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5F8FC"/>
          </a:solidFill>
          <a:ln>
            <a:solidFill>
              <a:srgbClr val="DA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b="1" sz="1500">
                <a:solidFill>
                  <a:srgbClr val="0B2C61"/>
                </a:solidFill>
              </a:defRPr>
            </a:pPr>
            <a:r>
              <a:t>2. Project Links &amp; Live Ecosystem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• SIH 2026 Problem Statement 26154:
  </a:t>
            </a:r>
            <a:r>
              <a:rPr sz="950">
                <a:solidFill>
                  <a:srgbClr val="141E2D"/>
                </a:solidFill>
              </a:rPr>
              <a:t>https://www.sih.gov.in/sih2026PS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• NTRO Official Portal:
  </a:t>
            </a:r>
            <a:r>
              <a:rPr sz="950">
                <a:solidFill>
                  <a:srgbClr val="141E2D"/>
                </a:solidFill>
              </a:rPr>
              <a:t>https://ntro.gov.in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• Live Web Platform &amp; Design System:
  </a:t>
            </a:r>
            <a:r>
              <a:rPr sz="950">
                <a:solidFill>
                  <a:srgbClr val="141E2D"/>
                </a:solidFill>
              </a:rPr>
              <a:t>https://hrl-brand-seo.vercel.app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• GitHub Project Repository:
  </a:t>
            </a:r>
            <a:r>
              <a:rPr sz="950">
                <a:solidFill>
                  <a:srgbClr val="141E2D"/>
                </a:solidFill>
              </a:rPr>
              <a:t>https://github.com/hrlpavan/sih-2026-media-problem-statements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05A24"/>
                </a:solidFill>
              </a:rPr>
              <a:t>• Winning Blueprint &amp; Documentation:
  </a:t>
            </a:r>
            <a:r>
              <a:rPr sz="950">
                <a:solidFill>
                  <a:srgbClr val="141E2D"/>
                </a:solidFill>
              </a:rPr>
              <a:t>https://github.com/hrlpavan/sih-2026-media-problem-statements/blob/main/WINNING_STRATEGY_PS26154.md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